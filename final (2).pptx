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  <p:sldMasterId id="2147483660" r:id="rId2"/>
  </p:sldMasterIdLst>
  <p:notesMasterIdLst>
    <p:notesMasterId r:id="rId24"/>
  </p:notesMasterIdLst>
  <p:sldIdLst>
    <p:sldId id="261" r:id="rId3"/>
    <p:sldId id="352" r:id="rId4"/>
    <p:sldId id="351" r:id="rId5"/>
    <p:sldId id="340" r:id="rId6"/>
    <p:sldId id="341" r:id="rId7"/>
    <p:sldId id="332" r:id="rId8"/>
    <p:sldId id="343" r:id="rId9"/>
    <p:sldId id="342" r:id="rId10"/>
    <p:sldId id="344" r:id="rId11"/>
    <p:sldId id="345" r:id="rId12"/>
    <p:sldId id="333" r:id="rId13"/>
    <p:sldId id="346" r:id="rId14"/>
    <p:sldId id="334" r:id="rId15"/>
    <p:sldId id="349" r:id="rId16"/>
    <p:sldId id="335" r:id="rId17"/>
    <p:sldId id="347" r:id="rId18"/>
    <p:sldId id="353" r:id="rId19"/>
    <p:sldId id="348" r:id="rId20"/>
    <p:sldId id="336" r:id="rId21"/>
    <p:sldId id="337" r:id="rId22"/>
    <p:sldId id="32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12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4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2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84B3B-E091-4218-B734-7F09C964D9E9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A2D287-CFE8-45F7-B578-1940EAB6BD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116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8E5E-745C-407D-B425-C78EBF08D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1" y="822960"/>
            <a:ext cx="6057899" cy="5015169"/>
          </a:xfrm>
        </p:spPr>
        <p:txBody>
          <a:bodyPr anchor="t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7A4D5-56F4-4287-B174-56C55B18F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9113" y="3003642"/>
            <a:ext cx="3522199" cy="2900274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B9C19-FEE0-4852-B181-14A0DD77F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27DDF-01B7-463C-82BC-BBF42961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2056A-C3EE-4809-B1F3-1CEEEA26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40FCEE-B6E2-46D0-9BB0-F45F79545E9D}"/>
              </a:ext>
            </a:extLst>
          </p:cNvPr>
          <p:cNvCxnSpPr>
            <a:cxnSpLocks/>
          </p:cNvCxnSpPr>
          <p:nvPr/>
        </p:nvCxnSpPr>
        <p:spPr>
          <a:xfrm flipH="1">
            <a:off x="571501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D2FB83-3783-4477-80B5-DA5BF10BAF57}"/>
              </a:ext>
            </a:extLst>
          </p:cNvPr>
          <p:cNvCxnSpPr>
            <a:cxnSpLocks/>
          </p:cNvCxnSpPr>
          <p:nvPr/>
        </p:nvCxnSpPr>
        <p:spPr>
          <a:xfrm>
            <a:off x="7742482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3EA203-71D5-49C0-9626-FFA8E46787B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14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2ED8-7F53-4C03-A740-493E5079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11087-99A9-4100-B5F7-520880DE3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2075688"/>
            <a:ext cx="11059811" cy="3910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B4B20-1A65-4A26-B11E-6095083A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D52D3-E985-4FEB-89B9-57C754711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A751A-C72D-47C1-A7A6-E8510A40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09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1F78-07BF-45A9-92D4-E4E0A1E8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914255"/>
            <a:ext cx="6867115" cy="5009471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C2A83-A380-4828-BC68-C065C8BC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39817" y="914399"/>
            <a:ext cx="2370268" cy="2670273"/>
          </a:xfrm>
        </p:spPr>
        <p:txBody>
          <a:bodyPr anchor="t">
            <a:normAutofit/>
          </a:bodyPr>
          <a:lstStyle>
            <a:lvl1pPr marL="0" indent="0">
              <a:lnSpc>
                <a:spcPct val="130000"/>
              </a:lnSpc>
              <a:buNone/>
              <a:defRPr sz="14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92B2F-8804-4195-A779-F5C67C25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99C26-4411-4833-A917-A45E62D5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8C7C7-F862-434D-A87A-DECE9FD2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0BAA4B-C4C0-40C1-8DC8-B4E2F8A68E12}"/>
              </a:ext>
            </a:extLst>
          </p:cNvPr>
          <p:cNvCxnSpPr>
            <a:cxnSpLocks/>
          </p:cNvCxnSpPr>
          <p:nvPr/>
        </p:nvCxnSpPr>
        <p:spPr>
          <a:xfrm>
            <a:off x="8872625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0A2259-2540-4B32-A999-2B46A6790E3D}"/>
              </a:ext>
            </a:extLst>
          </p:cNvPr>
          <p:cNvCxnSpPr>
            <a:cxnSpLocks/>
          </p:cNvCxnSpPr>
          <p:nvPr/>
        </p:nvCxnSpPr>
        <p:spPr>
          <a:xfrm flipH="1">
            <a:off x="566094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EFB0ED-3F76-4403-AD0B-E738DD9D8CB6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208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BD5F-CF53-4DD5-B8C5-27BBA2BB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09684"/>
            <a:ext cx="11049000" cy="105716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6C2E1-5D5E-409F-BEE8-F48CE86F5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9447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BF823-1BFB-4CF0-BAF4-D660C8F1A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7082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F816E-EE02-44A4-8B81-B324ECFD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4D9E4-A693-44D2-A3E8-E3AABC90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F669F-4B8E-415D-A9BF-AD451F45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0AF959-FCDC-4B92-9324-06A06C0D56F2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0007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85E5-82C4-4BAE-B2B0-A078ABD6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469" y="699118"/>
            <a:ext cx="11025062" cy="1063601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D15C7-F445-40F7-88F6-FD6526269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468" y="2022883"/>
            <a:ext cx="5230469" cy="564079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52C35-AA8E-4154-8A78-7DE9590E1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469" y="2866031"/>
            <a:ext cx="5157787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57EAC6-567C-4A4A-BB10-57EC14B97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41470" y="2022883"/>
            <a:ext cx="5183188" cy="564080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9A083F-AD60-4437-B32A-44035D78A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41470" y="2866031"/>
            <a:ext cx="5183188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DBF86F-3266-4551-B680-06F401FF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B38FE-80F9-4582-B2E1-B067C288D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BEF32-F637-47A1-9ED3-AFC4F79F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C508D4-7C99-4B8D-BCDE-F0001BD345D9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9BF61B-7951-48F4-982B-9401A483FFBF}"/>
              </a:ext>
            </a:extLst>
          </p:cNvPr>
          <p:cNvCxnSpPr>
            <a:cxnSpLocks/>
          </p:cNvCxnSpPr>
          <p:nvPr/>
        </p:nvCxnSpPr>
        <p:spPr>
          <a:xfrm flipH="1">
            <a:off x="577485" y="273859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2563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94CB-6BE5-4B9E-B0A6-54F83B20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17452"/>
            <a:ext cx="11049000" cy="116183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8643C-1A5D-4F23-B0D7-5B46F5E45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A3394-78CC-43B0-9762-5E826F8B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47F0A-1980-4E13-AB22-AE3B8AA4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9D858B-8A9C-4235-B151-81C99A3D20D2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C7798B-3ECB-4076-8955-A82116BB0D2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883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61D85-3E72-406F-AB26-B4ED9491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C831E-4321-467E-9090-C89C48CF2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A9556-B3D8-4403-835F-11AE2D40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63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AA48-D521-423D-B185-6490EF57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201" y="810344"/>
            <a:ext cx="3478084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4E6DD-DDD2-4ED6-B8A9-A8B6D7656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9809" y="931232"/>
            <a:ext cx="6700679" cy="50793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08F5E-AD33-4ACF-84C9-78B0FF6BE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500" y="2578608"/>
            <a:ext cx="3478783" cy="34172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7604E-7DD4-4497-B325-74F899E8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2BEED-A8F6-4256-9539-4434694A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A1AA6-EE0B-48FD-A7DE-6CEE6A8C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F35B32-9A23-4805-94A6-96826D202139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2BA7DA-3944-40D4-91CD-40CA24DBB79B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EA0B78-39E7-4039-B8BE-4F425688C6DF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68B99C-0744-42EE-9713-AB0CEC3F5D8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6456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12732-5D39-4B30-A499-D51BABC88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802204"/>
            <a:ext cx="3478787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AF5AEC-77BC-4A52-8A56-C6479CA6A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23467" y="847384"/>
            <a:ext cx="6907844" cy="52168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A9240-8762-4C7D-AF22-A844CB2EC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8" y="2574906"/>
            <a:ext cx="3478787" cy="34357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95685-E45D-4E74-8B78-D3B8E85C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FCBA3-0FF5-47C2-901A-645F6185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30381-5320-46AD-A0B9-7C04B3E5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57A432-D933-402A-8657-216EE20450EE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B1E0F3-D71B-436F-A10B-B6EA7125F684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EE64F5-2B48-4A2E-BA5E-1D37F1A7C9A3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9BF9AA-A2C8-4233-B597-EB11C6D6A0E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36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9A0A-70FC-426A-8B3B-60FAF9806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47EC6-9753-4ABC-BB66-64CCC8BA0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71499" y="2036363"/>
            <a:ext cx="11059811" cy="38707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84D9F-DC99-4B4C-98CF-178BBBB7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6840-AC0B-4260-8368-08E0A22D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5DAB8-EC07-4CCF-96EA-5D8ACDAE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38F1AC-9961-4786-A189-20863DD97F68}"/>
              </a:ext>
            </a:extLst>
          </p:cNvPr>
          <p:cNvCxnSpPr>
            <a:cxnSpLocks/>
          </p:cNvCxnSpPr>
          <p:nvPr/>
        </p:nvCxnSpPr>
        <p:spPr>
          <a:xfrm flipH="1">
            <a:off x="571500" y="1780979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0290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75F678-EC03-4845-A51B-C90FA6A154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77953" y="797251"/>
            <a:ext cx="2483929" cy="52837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A8B4D-A39F-4528-975A-9C84BEE77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6094" y="797251"/>
            <a:ext cx="8101072" cy="52837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E4A23-6984-4AD1-A51D-600EDC26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73E28-C341-49CC-BAAB-0C0D1982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6D54A-8E86-4026-8DD0-5B0979BB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B05DA4-DF32-4D7A-9E4D-36309C90C5BB}"/>
              </a:ext>
            </a:extLst>
          </p:cNvPr>
          <p:cNvCxnSpPr>
            <a:cxnSpLocks/>
          </p:cNvCxnSpPr>
          <p:nvPr/>
        </p:nvCxnSpPr>
        <p:spPr>
          <a:xfrm flipH="1">
            <a:off x="566094" y="57711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CC7262-4997-41E4-976D-BA82E148280F}"/>
              </a:ext>
            </a:extLst>
          </p:cNvPr>
          <p:cNvCxnSpPr>
            <a:cxnSpLocks/>
          </p:cNvCxnSpPr>
          <p:nvPr/>
        </p:nvCxnSpPr>
        <p:spPr>
          <a:xfrm flipV="1">
            <a:off x="8875226" y="571500"/>
            <a:ext cx="0" cy="5711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5063B5-E478-4C41-AD40-49A39AE07429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9454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5175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ECE9-D645-0540-9DA0-AEC7DA1A7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1137256"/>
            <a:ext cx="11209376" cy="4908082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B4E98A-97D9-4526-9E90-BA541F5B5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" y="348662"/>
            <a:ext cx="11209376" cy="464000"/>
          </a:xfrm>
        </p:spPr>
        <p:txBody>
          <a:bodyPr>
            <a:noAutofit/>
          </a:bodyPr>
          <a:lstStyle>
            <a:lvl1pPr>
              <a:defRPr sz="3200" b="0">
                <a:solidFill>
                  <a:srgbClr val="A4123F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Here To Edit Title</a:t>
            </a:r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0DA784-0993-4F43-BA98-733CB6486E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9" y="6369932"/>
            <a:ext cx="12218977" cy="5210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D41DD4-A5E8-4552-814D-0D80AF0F22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6134" y="6490361"/>
            <a:ext cx="1781941" cy="31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291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33832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40DA784-0993-4F43-BA98-733CB6486E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3456"/>
            <a:ext cx="12218977" cy="52100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ECE9-D645-0540-9DA0-AEC7DA1A7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1137256"/>
            <a:ext cx="11209376" cy="4908082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B4E98A-97D9-4526-9E90-BA541F5B5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" y="348662"/>
            <a:ext cx="11209376" cy="464000"/>
          </a:xfrm>
        </p:spPr>
        <p:txBody>
          <a:bodyPr>
            <a:noAutofit/>
          </a:bodyPr>
          <a:lstStyle>
            <a:lvl1pPr>
              <a:defRPr sz="3200" b="0">
                <a:solidFill>
                  <a:srgbClr val="A4123F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Here To Edit Title</a:t>
            </a:r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D41DD4-A5E8-4552-814D-0D80AF0F22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6134" y="6490361"/>
            <a:ext cx="1781941" cy="314840"/>
          </a:xfrm>
          <a:prstGeom prst="rect">
            <a:avLst/>
          </a:prstGeom>
        </p:spPr>
      </p:pic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44B71D63-CC8F-7D5C-C54F-0439C001E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25814"/>
            <a:ext cx="571499" cy="365125"/>
          </a:xfrm>
        </p:spPr>
        <p:txBody>
          <a:bodyPr/>
          <a:lstStyle>
            <a:lvl1pPr algn="l">
              <a:defRPr sz="1600" b="1"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3E60720-4643-2A6C-4283-9BD3505F1DFE}"/>
              </a:ext>
            </a:extLst>
          </p:cNvPr>
          <p:cNvSpPr txBox="1">
            <a:spLocks/>
          </p:cNvSpPr>
          <p:nvPr userDrawn="1"/>
        </p:nvSpPr>
        <p:spPr>
          <a:xfrm>
            <a:off x="401263" y="6525813"/>
            <a:ext cx="1587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262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E1467D-9ED1-4211-A71E-41C91C75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8A6A1-C9C7-4FDF-B4DA-1E86B6A35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499" y="2075688"/>
            <a:ext cx="11059811" cy="381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CC44A-C635-4CD0-90E9-D9503AF4C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BF682-1A47-492C-81E3-9DB0A50EC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C814B-9105-44ED-98A9-D326B2E2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814345-41DE-42C5-8657-66C1417DF81A}"/>
              </a:ext>
            </a:extLst>
          </p:cNvPr>
          <p:cNvCxnSpPr>
            <a:cxnSpLocks/>
          </p:cNvCxnSpPr>
          <p:nvPr/>
        </p:nvCxnSpPr>
        <p:spPr>
          <a:xfrm flipH="1">
            <a:off x="566094" y="6286347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68E419-3727-4F5E-8840-AF149B33B0B7}"/>
              </a:ext>
            </a:extLst>
          </p:cNvPr>
          <p:cNvCxnSpPr>
            <a:cxnSpLocks/>
          </p:cNvCxnSpPr>
          <p:nvPr/>
        </p:nvCxnSpPr>
        <p:spPr>
          <a:xfrm flipH="1">
            <a:off x="577485" y="1883336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19B6EC-D7AE-452F-8D0C-D11BD3377F3E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067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100" baseline="0">
          <a:solidFill>
            <a:schemeClr val="tx1"/>
          </a:solidFill>
          <a:latin typeface="Batang" panose="02030600000101010101" pitchFamily="18" charset="-127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C7025E-4863-6F49-AD01-8A5B65B0890F}"/>
              </a:ext>
            </a:extLst>
          </p:cNvPr>
          <p:cNvSpPr/>
          <p:nvPr/>
        </p:nvSpPr>
        <p:spPr>
          <a:xfrm>
            <a:off x="0" y="8389"/>
            <a:ext cx="12191999" cy="6858000"/>
          </a:xfrm>
          <a:prstGeom prst="rect">
            <a:avLst/>
          </a:prstGeom>
          <a:solidFill>
            <a:srgbClr val="B811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 </a:t>
            </a: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80288CD4-7B52-C244-BAD4-BFF7D9DCE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41" y="2428474"/>
            <a:ext cx="3443174" cy="1104899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A58083-EF1A-427F-9030-DC289843A2BF}"/>
              </a:ext>
            </a:extLst>
          </p:cNvPr>
          <p:cNvCxnSpPr>
            <a:cxnSpLocks/>
          </p:cNvCxnSpPr>
          <p:nvPr/>
        </p:nvCxnSpPr>
        <p:spPr>
          <a:xfrm>
            <a:off x="3839755" y="2142523"/>
            <a:ext cx="0" cy="163681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FF19762-9449-7F8E-ED51-CE92E43F0E91}"/>
              </a:ext>
            </a:extLst>
          </p:cNvPr>
          <p:cNvSpPr txBox="1"/>
          <p:nvPr/>
        </p:nvSpPr>
        <p:spPr>
          <a:xfrm>
            <a:off x="4032456" y="2302487"/>
            <a:ext cx="7864903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700" b="1" dirty="0">
                <a:solidFill>
                  <a:schemeClr val="bg1"/>
                </a:solidFill>
              </a:rPr>
              <a:t>Intelligent Bug Detection and Code Clone Identification Using Hybrid Analysis Techniques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92AFA7-A803-1602-35C8-C21ED8130634}"/>
              </a:ext>
            </a:extLst>
          </p:cNvPr>
          <p:cNvSpPr txBox="1"/>
          <p:nvPr/>
        </p:nvSpPr>
        <p:spPr>
          <a:xfrm>
            <a:off x="6617669" y="4954823"/>
            <a:ext cx="5574331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AM.EN.U4CSE22002(A.NAVEEN SAI )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AM.EN.U4CSE22223(G.RAGHUVEER)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AM.EN.U4CSE22230(CH.JASWANTH)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AM.EN.U4CSE22260(Y.HARSHITH)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B1EF1F-2300-829E-6E9B-9FE25D611E45}"/>
              </a:ext>
            </a:extLst>
          </p:cNvPr>
          <p:cNvSpPr txBox="1"/>
          <p:nvPr/>
        </p:nvSpPr>
        <p:spPr>
          <a:xfrm>
            <a:off x="5469924" y="3870094"/>
            <a:ext cx="4241293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 Name : Dr </a:t>
            </a:r>
            <a:r>
              <a:rPr lang="en-I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Aswathy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Mohan </a:t>
            </a:r>
          </a:p>
        </p:txBody>
      </p:sp>
    </p:spTree>
    <p:extLst>
      <p:ext uri="{BB962C8B-B14F-4D97-AF65-F5344CB8AC3E}">
        <p14:creationId xmlns:p14="http://schemas.microsoft.com/office/powerpoint/2010/main" val="3005922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FB7946-4A61-F0D4-E3EF-98A282757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Problem Definition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Literature Review Summary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Research Gap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Design/ Architecture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Algorithms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Result Analysis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Phase II plan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Approval from the Project Guide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F80A38-C040-884E-9416-3B2C3AC04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135302"/>
            <a:ext cx="10939781" cy="464000"/>
          </a:xfrm>
          <a:ln w="28575">
            <a:solidFill>
              <a:srgbClr val="C00000"/>
            </a:solidFill>
          </a:ln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A0663-8695-8CFA-B1EF-3BA1E542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25814"/>
            <a:ext cx="571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0EA680-D336-4FF7-8B7A-9848BB0A1C32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894FFD-4989-522F-352B-AB6F2C397014}"/>
              </a:ext>
            </a:extLst>
          </p:cNvPr>
          <p:cNvSpPr txBox="1"/>
          <p:nvPr/>
        </p:nvSpPr>
        <p:spPr>
          <a:xfrm>
            <a:off x="1140904" y="6488668"/>
            <a:ext cx="8549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Intelligent Bug Detection and Code Clone Identification Using Hybrid Analysis Techniques</a:t>
            </a:r>
          </a:p>
        </p:txBody>
      </p:sp>
    </p:spTree>
    <p:extLst>
      <p:ext uri="{BB962C8B-B14F-4D97-AF65-F5344CB8AC3E}">
        <p14:creationId xmlns:p14="http://schemas.microsoft.com/office/powerpoint/2010/main" val="3356318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A0663-8695-8CFA-B1EF-3BA1E542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A1080A-E442-4754-A93F-C1E059A330B8}"/>
              </a:ext>
            </a:extLst>
          </p:cNvPr>
          <p:cNvSpPr txBox="1"/>
          <p:nvPr/>
        </p:nvSpPr>
        <p:spPr>
          <a:xfrm>
            <a:off x="571499" y="792342"/>
            <a:ext cx="11620502" cy="589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Modern software projects struggle to maintain code quality as they grow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Increase in complexity leads to more bugs and redundant code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Projects accumulate technical debt over time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The proposed system provides an automated solution to detect:	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Bugs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Code clones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Target Audience:</a:t>
            </a:r>
            <a:b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Software Developers • DevOps Engineers • Project Managers</a:t>
            </a:r>
          </a:p>
          <a:p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BFC2CB-6E14-1F29-8A6D-51418944F45D}"/>
              </a:ext>
            </a:extLst>
          </p:cNvPr>
          <p:cNvSpPr txBox="1"/>
          <p:nvPr/>
        </p:nvSpPr>
        <p:spPr>
          <a:xfrm>
            <a:off x="571498" y="3113292"/>
            <a:ext cx="3815943" cy="2031325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What is Bug Detection?</a:t>
            </a:r>
            <a:endParaRPr lang="en-IN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7472" indent="-347472" algn="l" rtl="0" eaLnBrk="1" latinLnBrk="0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Identifies defects causing</a:t>
            </a:r>
          </a:p>
          <a:p>
            <a:pPr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180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unexpected software behavior</a:t>
            </a:r>
            <a:endParaRPr lang="en-IN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7472" indent="-347472" algn="l" rtl="0" eaLnBrk="1" latinLnBrk="0" hangingPunct="1">
              <a:spcBef>
                <a:spcPts val="0"/>
              </a:spcBef>
              <a:spcAft>
                <a:spcPts val="0"/>
              </a:spcAft>
            </a:pPr>
            <a:endParaRPr lang="en-US" sz="1800" kern="120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7472" indent="-347472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Traditional approach:</a:t>
            </a:r>
          </a:p>
          <a:p>
            <a:pPr marL="347472" indent="-347472" algn="l" rtl="0" eaLnBrk="1" latinLnBrk="0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Static linters (</a:t>
            </a:r>
            <a:r>
              <a:rPr lang="en-US" sz="1800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Checkstyle</a:t>
            </a:r>
            <a:r>
              <a:rPr lang="en-US" sz="180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→ syntax/style issues only</a:t>
            </a:r>
            <a:endParaRPr lang="en-IN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8B416F-2194-BFA6-FB83-A9E66460FDD2}"/>
              </a:ext>
            </a:extLst>
          </p:cNvPr>
          <p:cNvSpPr txBox="1"/>
          <p:nvPr/>
        </p:nvSpPr>
        <p:spPr>
          <a:xfrm>
            <a:off x="5266888" y="3113292"/>
            <a:ext cx="3633832" cy="2031325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What is Code Clone?</a:t>
            </a:r>
            <a:endParaRPr lang="en-IN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7472" indent="-347472" algn="l" rtl="0" eaLnBrk="1" latinLnBrk="0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 Clone is the duplication of code fragments within a program.</a:t>
            </a:r>
            <a:endParaRPr lang="en-US" sz="1800" kern="120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7472" indent="-347472" algn="l" rtl="0" eaLnBrk="1" latinLnBrk="0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sz="1800" kern="120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reduces maintainability and may lead to bugs.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74C5D67D-7238-3200-E86E-52C1D5B66099}"/>
              </a:ext>
            </a:extLst>
          </p:cNvPr>
          <p:cNvSpPr txBox="1">
            <a:spLocks/>
          </p:cNvSpPr>
          <p:nvPr/>
        </p:nvSpPr>
        <p:spPr>
          <a:xfrm>
            <a:off x="430547" y="170323"/>
            <a:ext cx="10939781" cy="464000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rgbClr val="A4123F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95D889-D357-5491-C726-98484E3D6AD6}"/>
              </a:ext>
            </a:extLst>
          </p:cNvPr>
          <p:cNvSpPr txBox="1"/>
          <p:nvPr/>
        </p:nvSpPr>
        <p:spPr>
          <a:xfrm>
            <a:off x="1140904" y="6488668"/>
            <a:ext cx="8549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Intelligent Bug Detection and Code Clone Identification Using Hybrid Analysis Techniques</a:t>
            </a:r>
          </a:p>
        </p:txBody>
      </p:sp>
    </p:spTree>
    <p:extLst>
      <p:ext uri="{BB962C8B-B14F-4D97-AF65-F5344CB8AC3E}">
        <p14:creationId xmlns:p14="http://schemas.microsoft.com/office/powerpoint/2010/main" val="1820991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A0663-8695-8CFA-B1EF-3BA1E542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1DDCC39-20CA-42A1-9F78-3A62D80435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1499" y="922047"/>
            <a:ext cx="11315701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Limitations of Existing Solutions: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09440F-1E3E-33E7-9560-5BC997B44D2B}"/>
              </a:ext>
            </a:extLst>
          </p:cNvPr>
          <p:cNvSpPr txBox="1"/>
          <p:nvPr/>
        </p:nvSpPr>
        <p:spPr>
          <a:xfrm>
            <a:off x="571499" y="1414614"/>
            <a:ext cx="5013200" cy="230832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Static Analysis Tools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They are </a:t>
            </a:r>
            <a:r>
              <a:rPr lang="en-US" b="1" dirty="0">
                <a:solidFill>
                  <a:schemeClr val="bg1"/>
                </a:solidFill>
              </a:rPr>
              <a:t>fast</a:t>
            </a:r>
            <a:r>
              <a:rPr lang="en-US" dirty="0">
                <a:solidFill>
                  <a:schemeClr val="bg1"/>
                </a:solidFill>
              </a:rPr>
              <a:t> and can check the whole code.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But they show </a:t>
            </a:r>
            <a:r>
              <a:rPr lang="en-US" b="1" dirty="0">
                <a:solidFill>
                  <a:schemeClr val="bg1"/>
                </a:solidFill>
              </a:rPr>
              <a:t>many false warnings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They </a:t>
            </a:r>
            <a:r>
              <a:rPr lang="en-US" b="1" dirty="0">
                <a:solidFill>
                  <a:schemeClr val="bg1"/>
                </a:solidFill>
              </a:rPr>
              <a:t>cannot see how the program runs</a:t>
            </a:r>
            <a:r>
              <a:rPr lang="en-US" dirty="0">
                <a:solidFill>
                  <a:schemeClr val="bg1"/>
                </a:solidFill>
              </a:rPr>
              <a:t>, only the text of the code.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They </a:t>
            </a:r>
            <a:r>
              <a:rPr lang="en-US" b="1" dirty="0">
                <a:solidFill>
                  <a:schemeClr val="bg1"/>
                </a:solidFill>
              </a:rPr>
              <a:t>miss deep meaning-based bugs</a:t>
            </a:r>
            <a:r>
              <a:rPr lang="en-US" dirty="0">
                <a:solidFill>
                  <a:schemeClr val="bg1"/>
                </a:solidFill>
              </a:rPr>
              <a:t> (Type-4 clones) because they only look at code shape, not logic.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04B170-6CFC-7980-7FCC-5DDD9B5D8A20}"/>
              </a:ext>
            </a:extLst>
          </p:cNvPr>
          <p:cNvSpPr txBox="1"/>
          <p:nvPr/>
        </p:nvSpPr>
        <p:spPr>
          <a:xfrm>
            <a:off x="5818379" y="1212441"/>
            <a:ext cx="5449062" cy="2585323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Dynamic Analysis Tools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They can find </a:t>
            </a:r>
            <a:r>
              <a:rPr lang="en-US" b="1" dirty="0">
                <a:solidFill>
                  <a:schemeClr val="bg1"/>
                </a:solidFill>
              </a:rPr>
              <a:t>real errors</a:t>
            </a:r>
            <a:r>
              <a:rPr lang="en-US" dirty="0">
                <a:solidFill>
                  <a:schemeClr val="bg1"/>
                </a:solidFill>
              </a:rPr>
              <a:t> when the code actually runs.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But they are </a:t>
            </a:r>
            <a:r>
              <a:rPr lang="en-US" b="1" dirty="0">
                <a:solidFill>
                  <a:schemeClr val="bg1"/>
                </a:solidFill>
              </a:rPr>
              <a:t>very slow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They need the program to </a:t>
            </a:r>
            <a:r>
              <a:rPr lang="en-US" b="1" dirty="0">
                <a:solidFill>
                  <a:schemeClr val="bg1"/>
                </a:solidFill>
              </a:rPr>
              <a:t>run with test inputs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They check only the </a:t>
            </a:r>
            <a:r>
              <a:rPr lang="en-US" b="1" dirty="0">
                <a:solidFill>
                  <a:schemeClr val="bg1"/>
                </a:solidFill>
              </a:rPr>
              <a:t>paths that are executed</a:t>
            </a:r>
            <a:r>
              <a:rPr lang="en-US" dirty="0">
                <a:solidFill>
                  <a:schemeClr val="bg1"/>
                </a:solidFill>
              </a:rPr>
              <a:t>, not all paths.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They find crashes but </a:t>
            </a:r>
            <a:r>
              <a:rPr lang="en-US" b="1" dirty="0">
                <a:solidFill>
                  <a:schemeClr val="bg1"/>
                </a:solidFill>
              </a:rPr>
              <a:t>cannot tell the reason behind the bug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5987F9-498A-DCC3-0C76-1BE41E81966C}"/>
              </a:ext>
            </a:extLst>
          </p:cNvPr>
          <p:cNvSpPr txBox="1"/>
          <p:nvPr/>
        </p:nvSpPr>
        <p:spPr>
          <a:xfrm>
            <a:off x="506970" y="3907149"/>
            <a:ext cx="11178060" cy="28179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Big software has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millions of lines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so checking everything by hand is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not possible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Developers sometimes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copy and paste code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which creates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repeated code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mistakes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Some bugs are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not visible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because the code runs, but it gives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wrong output in some cases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Normal tools only check basic errors (like spelling in code), so they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miss deeper mistakes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These hidden mistakes become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silent bugs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that slowly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damage the software quality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IN" sz="2000" dirty="0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394B503C-EAD7-D28B-52F5-F685AD95D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547" y="170323"/>
            <a:ext cx="10939781" cy="464000"/>
          </a:xfrm>
          <a:ln w="28575">
            <a:solidFill>
              <a:srgbClr val="C00000"/>
            </a:solidFill>
          </a:ln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Problem Definition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070C8B-F711-31C6-6551-12CC817678B0}"/>
              </a:ext>
            </a:extLst>
          </p:cNvPr>
          <p:cNvSpPr txBox="1"/>
          <p:nvPr/>
        </p:nvSpPr>
        <p:spPr>
          <a:xfrm>
            <a:off x="1140904" y="6488668"/>
            <a:ext cx="8549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Intelligent Bug Detection and Code Clone Identification Using Hybrid Analysis Techniques</a:t>
            </a:r>
          </a:p>
        </p:txBody>
      </p:sp>
    </p:spTree>
    <p:extLst>
      <p:ext uri="{BB962C8B-B14F-4D97-AF65-F5344CB8AC3E}">
        <p14:creationId xmlns:p14="http://schemas.microsoft.com/office/powerpoint/2010/main" val="3492985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7A0935-2D9A-41C6-949C-C85BE8776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46" y="1229360"/>
            <a:ext cx="11618829" cy="481597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Our Multi-Modal Solution Combines: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Structural Signal (AST):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Finds structural similarity; good for Type 1–3 clones.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Semantic Signal (LLM Embeddings):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Understands logic and meaning; detects Type-4 clones.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Dynamic Signal (Behavior Traces via BCI(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Bytecode Instrumentation</a:t>
            </a: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)):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Verifies how code behaves at runtime.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Key Innovations: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LLM-generated embeddings allow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logic-level similarity detection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even with different syntax.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Bytecode Instrumentation enables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exact runtime behavior capture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Fusion Scoring blends structural, semantic, and behavioral signals for extremely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low false positives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System flags a clone or bug only when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all three signals agree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ensuring high accuracy.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619A2-3E2F-4D50-872B-77C2D0183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E0B335-7BBC-99D1-88A2-C201D1F28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125142"/>
            <a:ext cx="10939781" cy="464000"/>
          </a:xfrm>
          <a:ln w="28575">
            <a:solidFill>
              <a:srgbClr val="C00000"/>
            </a:solidFill>
          </a:ln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Problem Definition (Continues…)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7D9254-1B9C-7250-DFE9-01F0DE9712AA}"/>
              </a:ext>
            </a:extLst>
          </p:cNvPr>
          <p:cNvSpPr txBox="1"/>
          <p:nvPr/>
        </p:nvSpPr>
        <p:spPr>
          <a:xfrm>
            <a:off x="1140904" y="6488668"/>
            <a:ext cx="8549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Intelligent Bug Detection and Code Clone Identification Using Hybrid Analysis Techniques</a:t>
            </a:r>
          </a:p>
        </p:txBody>
      </p:sp>
    </p:spTree>
    <p:extLst>
      <p:ext uri="{BB962C8B-B14F-4D97-AF65-F5344CB8AC3E}">
        <p14:creationId xmlns:p14="http://schemas.microsoft.com/office/powerpoint/2010/main" val="2741826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A0663-8695-8CFA-B1EF-3BA1E542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" name="Content Placeholder 6" descr="A diagram of a bug detection process&#10;&#10;Description automatically generated">
            <a:extLst>
              <a:ext uri="{FF2B5EF4-FFF2-40B4-BE49-F238E27FC236}">
                <a16:creationId xmlns:a16="http://schemas.microsoft.com/office/drawing/2014/main" id="{17D00F18-EEB0-48FD-B2EE-CAF2123A7B41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b="12629"/>
          <a:stretch/>
        </p:blipFill>
        <p:spPr>
          <a:xfrm>
            <a:off x="366538" y="1279501"/>
            <a:ext cx="5038726" cy="21494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729094-50EE-45C0-86D2-967266C5AC0A}"/>
              </a:ext>
            </a:extLst>
          </p:cNvPr>
          <p:cNvSpPr txBox="1"/>
          <p:nvPr/>
        </p:nvSpPr>
        <p:spPr>
          <a:xfrm>
            <a:off x="610326" y="827026"/>
            <a:ext cx="5723238" cy="33855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Title: Context-Based Detection of Clone-Related Bugs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FC45C7-7FA2-47C3-B4AA-E5086D01AF3B}"/>
              </a:ext>
            </a:extLst>
          </p:cNvPr>
          <p:cNvSpPr txBox="1"/>
          <p:nvPr/>
        </p:nvSpPr>
        <p:spPr>
          <a:xfrm>
            <a:off x="159562" y="3853623"/>
            <a:ext cx="6714565" cy="132343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Uses a tree-based clone detection tool to find similar code pieces.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Then it checks if the surrounding context (like if, for, conditions) is inconsistent.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8B6741-B4B9-4607-89BD-C5C7B3E87845}"/>
              </a:ext>
            </a:extLst>
          </p:cNvPr>
          <p:cNvSpPr txBox="1"/>
          <p:nvPr/>
        </p:nvSpPr>
        <p:spPr>
          <a:xfrm>
            <a:off x="159562" y="5231776"/>
            <a:ext cx="6714565" cy="969496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900" dirty="0"/>
              <a:t>Detects bugs caused by copy–paste mistakes.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900" dirty="0"/>
              <a:t>Tells the developer: “These two lines are similar but used differently → possible bug.”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950CBC-CE8E-9BAE-624B-2FCC114FE431}"/>
              </a:ext>
            </a:extLst>
          </p:cNvPr>
          <p:cNvSpPr txBox="1"/>
          <p:nvPr/>
        </p:nvSpPr>
        <p:spPr>
          <a:xfrm>
            <a:off x="6578637" y="756281"/>
            <a:ext cx="1468083" cy="52322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Jiang et al. 2007, </a:t>
            </a:r>
            <a:r>
              <a:rPr lang="en-IN" sz="1400" b="1" dirty="0">
                <a:effectLst/>
              </a:rPr>
              <a:t>ESEC/FSE</a:t>
            </a:r>
            <a:r>
              <a:rPr lang="en-IN" sz="1400" baseline="30000" dirty="0">
                <a:solidFill>
                  <a:srgbClr val="E6E8F0"/>
                </a:solidFill>
                <a:latin typeface="Google Sans"/>
              </a:rPr>
              <a:t>[5]</a:t>
            </a:r>
            <a:r>
              <a:rPr lang="en-IN" sz="1400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  <a:endParaRPr lang="en-US" sz="1400" dirty="0"/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BD2DD603-B458-5EDF-77D4-32AF7647C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547" y="170323"/>
            <a:ext cx="10939781" cy="464000"/>
          </a:xfrm>
          <a:ln w="28575">
            <a:solidFill>
              <a:srgbClr val="C00000"/>
            </a:solidFill>
          </a:ln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Literature Review Summary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B617DE-1ED2-AE85-C6DB-0B8E3C94BA5F}"/>
              </a:ext>
            </a:extLst>
          </p:cNvPr>
          <p:cNvSpPr txBox="1"/>
          <p:nvPr/>
        </p:nvSpPr>
        <p:spPr>
          <a:xfrm>
            <a:off x="7030809" y="1447501"/>
            <a:ext cx="5161191" cy="4801314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/* File: linux-2.6.19/drivers/</a:t>
            </a:r>
            <a:r>
              <a:rPr lang="en-IN" dirty="0" err="1">
                <a:solidFill>
                  <a:schemeClr val="bg1"/>
                </a:solidFill>
              </a:rPr>
              <a:t>scsi</a:t>
            </a:r>
            <a:r>
              <a:rPr lang="en-IN" dirty="0">
                <a:solidFill>
                  <a:schemeClr val="bg1"/>
                </a:solidFill>
              </a:rPr>
              <a:t>/arm/</a:t>
            </a:r>
            <a:r>
              <a:rPr lang="en-IN" dirty="0" err="1">
                <a:solidFill>
                  <a:schemeClr val="bg1"/>
                </a:solidFill>
              </a:rPr>
              <a:t>eesox.c</a:t>
            </a:r>
            <a:r>
              <a:rPr lang="en-IN" dirty="0">
                <a:solidFill>
                  <a:schemeClr val="bg1"/>
                </a:solidFill>
              </a:rPr>
              <a:t> */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if (length &gt;= 9 &amp;&amp; </a:t>
            </a:r>
            <a:r>
              <a:rPr lang="en-IN" dirty="0" err="1">
                <a:solidFill>
                  <a:schemeClr val="bg1"/>
                </a:solidFill>
              </a:rPr>
              <a:t>strncmp</a:t>
            </a:r>
            <a:r>
              <a:rPr lang="en-IN" dirty="0">
                <a:solidFill>
                  <a:schemeClr val="bg1"/>
                </a:solidFill>
              </a:rPr>
              <a:t>(buffer, "EESOX SCSI", 9) == 0) {</a:t>
            </a:r>
          </a:p>
          <a:p>
            <a:r>
              <a:rPr lang="en-IN" dirty="0">
                <a:solidFill>
                  <a:schemeClr val="bg1"/>
                </a:solidFill>
              </a:rPr>
              <a:t>    buffer += 9;</a:t>
            </a:r>
          </a:p>
          <a:p>
            <a:r>
              <a:rPr lang="en-IN" dirty="0">
                <a:solidFill>
                  <a:schemeClr val="bg1"/>
                </a:solidFill>
              </a:rPr>
              <a:t>    length -= 9;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    if (length &gt;= 5 &amp;&amp; </a:t>
            </a:r>
            <a:r>
              <a:rPr lang="en-IN" dirty="0" err="1">
                <a:solidFill>
                  <a:schemeClr val="bg1"/>
                </a:solidFill>
              </a:rPr>
              <a:t>strncmp</a:t>
            </a:r>
            <a:r>
              <a:rPr lang="en-IN" dirty="0">
                <a:solidFill>
                  <a:schemeClr val="bg1"/>
                </a:solidFill>
              </a:rPr>
              <a:t>(buffer, "term=", 5) == 0) {</a:t>
            </a:r>
          </a:p>
          <a:p>
            <a:r>
              <a:rPr lang="en-IN" dirty="0">
                <a:solidFill>
                  <a:schemeClr val="bg1"/>
                </a:solidFill>
              </a:rPr>
              <a:t>        ....</a:t>
            </a:r>
          </a:p>
          <a:p>
            <a:r>
              <a:rPr lang="en-IN" dirty="0">
                <a:solidFill>
                  <a:schemeClr val="bg1"/>
                </a:solidFill>
              </a:rPr>
              <a:t>    } else {</a:t>
            </a:r>
          </a:p>
          <a:p>
            <a:r>
              <a:rPr lang="en-IN" dirty="0">
                <a:solidFill>
                  <a:schemeClr val="bg1"/>
                </a:solidFill>
              </a:rPr>
              <a:t>        ret = -EINVAL;</a:t>
            </a:r>
          </a:p>
          <a:p>
            <a:r>
              <a:rPr lang="en-IN" dirty="0">
                <a:solidFill>
                  <a:schemeClr val="bg1"/>
                </a:solidFill>
              </a:rPr>
              <a:t>    }</a:t>
            </a:r>
          </a:p>
          <a:p>
            <a:r>
              <a:rPr lang="en-IN" dirty="0">
                <a:solidFill>
                  <a:schemeClr val="bg1"/>
                </a:solidFill>
              </a:rPr>
              <a:t>} else {</a:t>
            </a:r>
          </a:p>
          <a:p>
            <a:r>
              <a:rPr lang="en-IN" dirty="0">
                <a:solidFill>
                  <a:schemeClr val="bg1"/>
                </a:solidFill>
              </a:rPr>
              <a:t>    ret = -EINVAL;</a:t>
            </a:r>
          </a:p>
          <a:p>
            <a:r>
              <a:rPr lang="en-IN" dirty="0">
                <a:solidFill>
                  <a:schemeClr val="bg1"/>
                </a:solidFill>
              </a:rPr>
              <a:t>}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39A20C-C4D0-1F69-BA18-DC7AFDCDE822}"/>
              </a:ext>
            </a:extLst>
          </p:cNvPr>
          <p:cNvSpPr txBox="1"/>
          <p:nvPr/>
        </p:nvSpPr>
        <p:spPr>
          <a:xfrm>
            <a:off x="1140904" y="6488668"/>
            <a:ext cx="8549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Intelligent Bug Detection and Code Clone Identification Using Hybrid Analysis Techniques</a:t>
            </a:r>
          </a:p>
        </p:txBody>
      </p:sp>
    </p:spTree>
    <p:extLst>
      <p:ext uri="{BB962C8B-B14F-4D97-AF65-F5344CB8AC3E}">
        <p14:creationId xmlns:p14="http://schemas.microsoft.com/office/powerpoint/2010/main" val="2650914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A0663-8695-8CFA-B1EF-3BA1E542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729094-50EE-45C0-86D2-967266C5AC0A}"/>
              </a:ext>
            </a:extLst>
          </p:cNvPr>
          <p:cNvSpPr txBox="1"/>
          <p:nvPr/>
        </p:nvSpPr>
        <p:spPr>
          <a:xfrm>
            <a:off x="411125" y="804180"/>
            <a:ext cx="5411824" cy="27699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Title: Code Clone Detection Techniques Based on Large Language Models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FC45C7-7FA2-47C3-B4AA-E5086D01AF3B}"/>
              </a:ext>
            </a:extLst>
          </p:cNvPr>
          <p:cNvSpPr txBox="1"/>
          <p:nvPr/>
        </p:nvSpPr>
        <p:spPr>
          <a:xfrm>
            <a:off x="185738" y="4484912"/>
            <a:ext cx="6347142" cy="969496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Detects semantic clones, including Type-4 (different syntax, same logic).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Works inside an IDE and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gives:Real-time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clone alerts</a:t>
            </a:r>
          </a:p>
        </p:txBody>
      </p:sp>
      <p:pic>
        <p:nvPicPr>
          <p:cNvPr id="12" name="Picture 11" descr="A diagram of a computer code&#10;&#10;Description automatically generated">
            <a:extLst>
              <a:ext uri="{FF2B5EF4-FFF2-40B4-BE49-F238E27FC236}">
                <a16:creationId xmlns:a16="http://schemas.microsoft.com/office/drawing/2014/main" id="{6007C126-5959-4F33-A365-7CD7E54E9B92}"/>
              </a:ext>
            </a:extLst>
          </p:cNvPr>
          <p:cNvPicPr/>
          <p:nvPr/>
        </p:nvPicPr>
        <p:blipFill rotWithShape="1">
          <a:blip r:embed="rId2"/>
          <a:srcRect l="133" t="7524" r="3192"/>
          <a:stretch/>
        </p:blipFill>
        <p:spPr>
          <a:xfrm>
            <a:off x="85726" y="1342330"/>
            <a:ext cx="6010274" cy="3064327"/>
          </a:xfrm>
          <a:prstGeom prst="rect">
            <a:avLst/>
          </a:prstGeom>
        </p:spPr>
      </p:pic>
      <p:pic>
        <p:nvPicPr>
          <p:cNvPr id="13" name="Picture 12" descr="A diagram of a diagram&#10;&#10;Description automatically generated">
            <a:extLst>
              <a:ext uri="{FF2B5EF4-FFF2-40B4-BE49-F238E27FC236}">
                <a16:creationId xmlns:a16="http://schemas.microsoft.com/office/drawing/2014/main" id="{905B6074-189C-4CBC-BD7B-DDF2CA45FA13}"/>
              </a:ext>
            </a:extLst>
          </p:cNvPr>
          <p:cNvPicPr/>
          <p:nvPr/>
        </p:nvPicPr>
        <p:blipFill rotWithShape="1">
          <a:blip r:embed="rId3"/>
          <a:srcRect t="6089"/>
          <a:stretch/>
        </p:blipFill>
        <p:spPr>
          <a:xfrm>
            <a:off x="6654800" y="1342330"/>
            <a:ext cx="5537200" cy="471465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FB166C9-8E8B-4395-B295-9510F0BB96AF}"/>
              </a:ext>
            </a:extLst>
          </p:cNvPr>
          <p:cNvSpPr txBox="1"/>
          <p:nvPr/>
        </p:nvSpPr>
        <p:spPr>
          <a:xfrm>
            <a:off x="187021" y="5532663"/>
            <a:ext cx="6345860" cy="677108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Uses GPT-3.5 and GPT-4 with few-shot instruction tuning.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72C11A-CD61-6450-5DE6-24CDDEC74EF7}"/>
              </a:ext>
            </a:extLst>
          </p:cNvPr>
          <p:cNvSpPr txBox="1"/>
          <p:nvPr/>
        </p:nvSpPr>
        <p:spPr>
          <a:xfrm>
            <a:off x="6148349" y="801017"/>
            <a:ext cx="3400425" cy="27699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Afnan A.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Almatrafi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et al, IEEE Access, 2025 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[4]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41B94E1A-56A6-061F-B8A1-F0D25874A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547" y="170323"/>
            <a:ext cx="10939781" cy="464000"/>
          </a:xfrm>
          <a:ln w="28575">
            <a:solidFill>
              <a:srgbClr val="C00000"/>
            </a:solidFill>
          </a:ln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Literature Review 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E67D05-D386-2C59-B208-07274A4353B0}"/>
              </a:ext>
            </a:extLst>
          </p:cNvPr>
          <p:cNvSpPr txBox="1"/>
          <p:nvPr/>
        </p:nvSpPr>
        <p:spPr>
          <a:xfrm>
            <a:off x="1140904" y="6488668"/>
            <a:ext cx="8549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Intelligent Bug Detection and Code Clone Identification Using Hybrid Analysis Techniques</a:t>
            </a:r>
          </a:p>
        </p:txBody>
      </p:sp>
    </p:spTree>
    <p:extLst>
      <p:ext uri="{BB962C8B-B14F-4D97-AF65-F5344CB8AC3E}">
        <p14:creationId xmlns:p14="http://schemas.microsoft.com/office/powerpoint/2010/main" val="3321027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A0663-8695-8CFA-B1EF-3BA1E542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729094-50EE-45C0-86D2-967266C5AC0A}"/>
              </a:ext>
            </a:extLst>
          </p:cNvPr>
          <p:cNvSpPr txBox="1"/>
          <p:nvPr/>
        </p:nvSpPr>
        <p:spPr>
          <a:xfrm>
            <a:off x="285749" y="963137"/>
            <a:ext cx="6273131" cy="30777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Title: AI-Assisted Assessment of Coding Practices in Modern Code Review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FC45C7-7FA2-47C3-B4AA-E5086D01AF3B}"/>
              </a:ext>
            </a:extLst>
          </p:cNvPr>
          <p:cNvSpPr txBox="1"/>
          <p:nvPr/>
        </p:nvSpPr>
        <p:spPr>
          <a:xfrm>
            <a:off x="114655" y="4435360"/>
            <a:ext cx="3997325" cy="646331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Uses LLM-based best-practice checker trained using a pipeline.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8B6741-B4B9-4607-89BD-C5C7B3E87845}"/>
              </a:ext>
            </a:extLst>
          </p:cNvPr>
          <p:cNvSpPr txBox="1"/>
          <p:nvPr/>
        </p:nvSpPr>
        <p:spPr>
          <a:xfrm>
            <a:off x="114655" y="5213241"/>
            <a:ext cx="3968395" cy="92333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tool that automatically suggests: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Better naming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Cleaner code patterns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22A3D9-89A5-42C1-BEBD-A847B73C1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6" y="1391920"/>
            <a:ext cx="7553326" cy="3043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B3F985-5B03-4557-8285-74544B2EC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9051" y="1666241"/>
            <a:ext cx="4438294" cy="45804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9F59CB-B8D1-1946-23F6-5F897A3F224C}"/>
              </a:ext>
            </a:extLst>
          </p:cNvPr>
          <p:cNvSpPr txBox="1"/>
          <p:nvPr/>
        </p:nvSpPr>
        <p:spPr>
          <a:xfrm>
            <a:off x="6852004" y="962701"/>
            <a:ext cx="4628795" cy="27699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M.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Vijayvergiya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et al ,2024,AI-Powered Software Engineering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4DF1AB86-C4A6-0DF7-1C82-7624294EC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547" y="170323"/>
            <a:ext cx="10939781" cy="464000"/>
          </a:xfrm>
          <a:ln w="28575">
            <a:solidFill>
              <a:srgbClr val="C00000"/>
            </a:solidFill>
          </a:ln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Literature Review 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93010F-917C-E0C4-467C-A281B56155BB}"/>
              </a:ext>
            </a:extLst>
          </p:cNvPr>
          <p:cNvSpPr txBox="1"/>
          <p:nvPr/>
        </p:nvSpPr>
        <p:spPr>
          <a:xfrm>
            <a:off x="1140904" y="6488668"/>
            <a:ext cx="8549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Intelligent Bug Detection and Code Clone Identification Using Hybrid Analysis Techniques</a:t>
            </a:r>
          </a:p>
        </p:txBody>
      </p:sp>
    </p:spTree>
    <p:extLst>
      <p:ext uri="{BB962C8B-B14F-4D97-AF65-F5344CB8AC3E}">
        <p14:creationId xmlns:p14="http://schemas.microsoft.com/office/powerpoint/2010/main" val="1236440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A0663-8695-8CFA-B1EF-3BA1E542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729094-50EE-45C0-86D2-967266C5AC0A}"/>
              </a:ext>
            </a:extLst>
          </p:cNvPr>
          <p:cNvSpPr txBox="1"/>
          <p:nvPr/>
        </p:nvSpPr>
        <p:spPr>
          <a:xfrm>
            <a:off x="166684" y="866688"/>
            <a:ext cx="7341556" cy="461665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Title: Combining Structured Static Code Information and Dynamic Symbolic Traces for Software Vulnerability Prediction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FC45C7-7FA2-47C3-B4AA-E5086D01AF3B}"/>
              </a:ext>
            </a:extLst>
          </p:cNvPr>
          <p:cNvSpPr txBox="1"/>
          <p:nvPr/>
        </p:nvSpPr>
        <p:spPr>
          <a:xfrm>
            <a:off x="166684" y="4341555"/>
            <a:ext cx="6081716" cy="120032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Combines two types of program information: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Static (AST, control-flow, data-flow)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Dynamic (symbolic execution traces)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Uses a Transformer model to learn code patterns.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3AB4973-4028-4432-A02D-CD8555299C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87" t="4616" r="1"/>
          <a:stretch/>
        </p:blipFill>
        <p:spPr>
          <a:xfrm>
            <a:off x="38808" y="1513120"/>
            <a:ext cx="10009431" cy="24977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3329DA4-3A66-4DFD-800D-8D90901ED1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8374"/>
          <a:stretch/>
        </p:blipFill>
        <p:spPr>
          <a:xfrm>
            <a:off x="6333564" y="4183744"/>
            <a:ext cx="5572499" cy="19234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4B0D15-8E4F-5EAC-E883-2A21C43E4BC6}"/>
              </a:ext>
            </a:extLst>
          </p:cNvPr>
          <p:cNvSpPr txBox="1"/>
          <p:nvPr/>
        </p:nvSpPr>
        <p:spPr>
          <a:xfrm>
            <a:off x="166684" y="5595910"/>
            <a:ext cx="6081716" cy="646331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Detects vulnerabilities in C programs.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Finds deep semantic bugs missed by static tools.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D581C9-075B-7D24-E396-A5593EF4A5B6}"/>
              </a:ext>
            </a:extLst>
          </p:cNvPr>
          <p:cNvSpPr txBox="1"/>
          <p:nvPr/>
        </p:nvSpPr>
        <p:spPr>
          <a:xfrm>
            <a:off x="7947793" y="916227"/>
            <a:ext cx="3833082" cy="43088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dirty="0" err="1"/>
              <a:t>Huanting</a:t>
            </a:r>
            <a:r>
              <a:rPr lang="en-US" sz="1100" dirty="0"/>
              <a:t> Wang et </a:t>
            </a:r>
            <a:r>
              <a:rPr lang="en-US" sz="1100" dirty="0" err="1"/>
              <a:t>al,Conference</a:t>
            </a:r>
            <a:r>
              <a:rPr lang="en-US" sz="1100" dirty="0"/>
              <a:t> on Software Engineering (2024)</a:t>
            </a:r>
            <a:r>
              <a:rPr lang="en-US" sz="1100" baseline="30000" dirty="0"/>
              <a:t>[3]</a:t>
            </a:r>
          </a:p>
        </p:txBody>
      </p:sp>
      <p:sp>
        <p:nvSpPr>
          <p:cNvPr id="16" name="Title 2">
            <a:extLst>
              <a:ext uri="{FF2B5EF4-FFF2-40B4-BE49-F238E27FC236}">
                <a16:creationId xmlns:a16="http://schemas.microsoft.com/office/drawing/2014/main" id="{474EFC34-DD5E-A557-6EC9-51C21C472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547" y="170323"/>
            <a:ext cx="10939781" cy="464000"/>
          </a:xfrm>
          <a:ln w="28575">
            <a:solidFill>
              <a:srgbClr val="C00000"/>
            </a:solidFill>
          </a:ln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Literature Review 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9B443D-7843-6814-1E44-865FBFE3ADD3}"/>
              </a:ext>
            </a:extLst>
          </p:cNvPr>
          <p:cNvSpPr txBox="1"/>
          <p:nvPr/>
        </p:nvSpPr>
        <p:spPr>
          <a:xfrm>
            <a:off x="1140904" y="6488668"/>
            <a:ext cx="8549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Intelligent Bug Detection and Code Clone Identification Using Hybrid Analysis Techniques</a:t>
            </a:r>
          </a:p>
        </p:txBody>
      </p:sp>
    </p:spTree>
    <p:extLst>
      <p:ext uri="{BB962C8B-B14F-4D97-AF65-F5344CB8AC3E}">
        <p14:creationId xmlns:p14="http://schemas.microsoft.com/office/powerpoint/2010/main" val="3062053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A0663-8695-8CFA-B1EF-3BA1E542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729094-50EE-45C0-86D2-967266C5AC0A}"/>
              </a:ext>
            </a:extLst>
          </p:cNvPr>
          <p:cNvSpPr txBox="1"/>
          <p:nvPr/>
        </p:nvSpPr>
        <p:spPr>
          <a:xfrm>
            <a:off x="7927060" y="853348"/>
            <a:ext cx="3330220" cy="43088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dirty="0"/>
              <a:t> T. Vijayanandan,2025,Big Data and Cognitive Computing</a:t>
            </a:r>
            <a:r>
              <a:rPr lang="en-US" sz="1100" baseline="30000" dirty="0"/>
              <a:t>[1]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FC45C7-7FA2-47C3-B4AA-E5086D01AF3B}"/>
              </a:ext>
            </a:extLst>
          </p:cNvPr>
          <p:cNvSpPr txBox="1"/>
          <p:nvPr/>
        </p:nvSpPr>
        <p:spPr>
          <a:xfrm>
            <a:off x="85725" y="3826749"/>
            <a:ext cx="4366599" cy="92333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err="1"/>
              <a:t>LetNet</a:t>
            </a:r>
            <a:r>
              <a:rPr lang="en-US" dirty="0"/>
              <a:t> takes a 49-dimensional AST feature vector as input and uses three convolutional layers.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8B6741-B4B9-4607-89BD-C5C7B3E87845}"/>
              </a:ext>
            </a:extLst>
          </p:cNvPr>
          <p:cNvSpPr txBox="1"/>
          <p:nvPr/>
        </p:nvSpPr>
        <p:spPr>
          <a:xfrm>
            <a:off x="85725" y="4809964"/>
            <a:ext cx="4681559" cy="1477328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Detects Type 1, 2, and 3 clones with very high precision.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Gives the exact clone type and whether two fragments belong to the same clone family.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3479E8-51EB-4793-852C-C53F41FD16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71" t="10796" r="5189"/>
          <a:stretch/>
        </p:blipFill>
        <p:spPr>
          <a:xfrm>
            <a:off x="156845" y="1520285"/>
            <a:ext cx="8176652" cy="215749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13ACD69-FDB7-4D5C-BFC9-EA25302FB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958" y="4190036"/>
            <a:ext cx="7067550" cy="20157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B403FD-300C-2FF7-8694-1EC096175309}"/>
              </a:ext>
            </a:extLst>
          </p:cNvPr>
          <p:cNvSpPr txBox="1"/>
          <p:nvPr/>
        </p:nvSpPr>
        <p:spPr>
          <a:xfrm>
            <a:off x="156845" y="837960"/>
            <a:ext cx="7212654" cy="461665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kern="1200" dirty="0" err="1">
                <a:solidFill>
                  <a:srgbClr val="FFFFFF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LeONet</a:t>
            </a:r>
            <a:r>
              <a:rPr lang="en-US" sz="1200" kern="1200" dirty="0">
                <a:solidFill>
                  <a:srgbClr val="FFFFFF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: A Hybrid Deep Learning Approach for High-Precision Code Clone Detection Using Abstract Syntax Tree Features</a:t>
            </a:r>
            <a:endParaRPr lang="en-US" sz="1200" dirty="0"/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E31A5B70-FC3D-B1DA-93D5-C72655CC3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547" y="170323"/>
            <a:ext cx="10939781" cy="464000"/>
          </a:xfrm>
          <a:ln w="28575">
            <a:solidFill>
              <a:srgbClr val="C00000"/>
            </a:solidFill>
          </a:ln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Literature Review 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A0173F-8F8F-E12E-FFEA-7FC180955F2E}"/>
              </a:ext>
            </a:extLst>
          </p:cNvPr>
          <p:cNvSpPr txBox="1"/>
          <p:nvPr/>
        </p:nvSpPr>
        <p:spPr>
          <a:xfrm>
            <a:off x="1140904" y="6488668"/>
            <a:ext cx="8549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Intelligent Bug Detection and Code Clone Identification Using Hybrid Analysis Techniques</a:t>
            </a:r>
          </a:p>
        </p:txBody>
      </p:sp>
    </p:spTree>
    <p:extLst>
      <p:ext uri="{BB962C8B-B14F-4D97-AF65-F5344CB8AC3E}">
        <p14:creationId xmlns:p14="http://schemas.microsoft.com/office/powerpoint/2010/main" val="412895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A0663-8695-8CFA-B1EF-3BA1E542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C8DEDE4B-59F6-49DE-B52F-8F3656D29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489888"/>
              </p:ext>
            </p:extLst>
          </p:nvPr>
        </p:nvGraphicFramePr>
        <p:xfrm>
          <a:off x="-1" y="532394"/>
          <a:ext cx="12192000" cy="5793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426">
                  <a:extLst>
                    <a:ext uri="{9D8B030D-6E8A-4147-A177-3AD203B41FA5}">
                      <a16:colId xmlns:a16="http://schemas.microsoft.com/office/drawing/2014/main" val="2075465335"/>
                    </a:ext>
                  </a:extLst>
                </a:gridCol>
                <a:gridCol w="1891781">
                  <a:extLst>
                    <a:ext uri="{9D8B030D-6E8A-4147-A177-3AD203B41FA5}">
                      <a16:colId xmlns:a16="http://schemas.microsoft.com/office/drawing/2014/main" val="1374867144"/>
                    </a:ext>
                  </a:extLst>
                </a:gridCol>
                <a:gridCol w="1628077">
                  <a:extLst>
                    <a:ext uri="{9D8B030D-6E8A-4147-A177-3AD203B41FA5}">
                      <a16:colId xmlns:a16="http://schemas.microsoft.com/office/drawing/2014/main" val="3546878265"/>
                    </a:ext>
                  </a:extLst>
                </a:gridCol>
                <a:gridCol w="1759929">
                  <a:extLst>
                    <a:ext uri="{9D8B030D-6E8A-4147-A177-3AD203B41FA5}">
                      <a16:colId xmlns:a16="http://schemas.microsoft.com/office/drawing/2014/main" val="956706943"/>
                    </a:ext>
                  </a:extLst>
                </a:gridCol>
                <a:gridCol w="1759929">
                  <a:extLst>
                    <a:ext uri="{9D8B030D-6E8A-4147-A177-3AD203B41FA5}">
                      <a16:colId xmlns:a16="http://schemas.microsoft.com/office/drawing/2014/main" val="3027606676"/>
                    </a:ext>
                  </a:extLst>
                </a:gridCol>
                <a:gridCol w="1759929">
                  <a:extLst>
                    <a:ext uri="{9D8B030D-6E8A-4147-A177-3AD203B41FA5}">
                      <a16:colId xmlns:a16="http://schemas.microsoft.com/office/drawing/2014/main" val="502700560"/>
                    </a:ext>
                  </a:extLst>
                </a:gridCol>
                <a:gridCol w="1759929">
                  <a:extLst>
                    <a:ext uri="{9D8B030D-6E8A-4147-A177-3AD203B41FA5}">
                      <a16:colId xmlns:a16="http://schemas.microsoft.com/office/drawing/2014/main" val="4103227657"/>
                    </a:ext>
                  </a:extLst>
                </a:gridCol>
              </a:tblGrid>
              <a:tr h="77242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Feature / Capability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AutoCommenter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Concoction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LeONet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Context-Based Bug Detection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LLM-CCD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Our Project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1610619"/>
                  </a:ext>
                </a:extLst>
              </a:tr>
              <a:tr h="540700">
                <a:tc>
                  <a:txBody>
                    <a:bodyPr/>
                    <a:lstStyle/>
                    <a:p>
                      <a:r>
                        <a:rPr lang="en-US" sz="1400"/>
                        <a:t>Bug Detection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Partial (review comments)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 (context only)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Yes (Semantic + Runtime)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5511157"/>
                  </a:ext>
                </a:extLst>
              </a:tr>
              <a:tr h="540700">
                <a:tc>
                  <a:txBody>
                    <a:bodyPr/>
                    <a:lstStyle/>
                    <a:p>
                      <a:r>
                        <a:rPr lang="en-US" sz="1400"/>
                        <a:t>Clone Detection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 (structural)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Yes (Type 1-4)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3507315"/>
                  </a:ext>
                </a:extLst>
              </a:tr>
              <a:tr h="772428">
                <a:tc>
                  <a:txBody>
                    <a:bodyPr/>
                    <a:lstStyle/>
                    <a:p>
                      <a:r>
                        <a:rPr lang="en-US" sz="1400"/>
                        <a:t>Semantic Clone Detection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Limited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Yes + Runtime validation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1668825"/>
                  </a:ext>
                </a:extLst>
              </a:tr>
              <a:tr h="540700">
                <a:tc>
                  <a:txBody>
                    <a:bodyPr/>
                    <a:lstStyle/>
                    <a:p>
                      <a:r>
                        <a:rPr lang="en-US" sz="1400"/>
                        <a:t>Dynamic Analysis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Yes (BCI + tests)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0322887"/>
                  </a:ext>
                </a:extLst>
              </a:tr>
              <a:tr h="772428">
                <a:tc>
                  <a:txBody>
                    <a:bodyPr/>
                    <a:lstStyle/>
                    <a:p>
                      <a:r>
                        <a:rPr lang="en-US" sz="1400"/>
                        <a:t>ML/LLM Usage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Hybrid ML + LLM + Dynamic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7895792"/>
                  </a:ext>
                </a:extLst>
              </a:tr>
              <a:tr h="540700">
                <a:tc>
                  <a:txBody>
                    <a:bodyPr/>
                    <a:lstStyle/>
                    <a:p>
                      <a:r>
                        <a:rPr lang="en-US" sz="1400"/>
                        <a:t>Clone related Bug Detection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Yes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7374272"/>
                  </a:ext>
                </a:extLst>
              </a:tr>
              <a:tr h="772428">
                <a:tc>
                  <a:txBody>
                    <a:bodyPr/>
                    <a:lstStyle/>
                    <a:p>
                      <a:pPr rtl="0"/>
                      <a:r>
                        <a:rPr lang="en-US" sz="1400"/>
                        <a:t>Multi language Support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Limited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 only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Java only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C/Java only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Depends on prompts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High (Semantic Embeddings)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8464633"/>
                  </a:ext>
                </a:extLst>
              </a:tr>
              <a:tr h="540700">
                <a:tc>
                  <a:txBody>
                    <a:bodyPr/>
                    <a:lstStyle/>
                    <a:p>
                      <a:r>
                        <a:rPr lang="en-US" sz="1400"/>
                        <a:t>Industry Applicability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Low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Medium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Medium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High (CI/CD ready)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515436"/>
                  </a:ext>
                </a:extLst>
              </a:tr>
            </a:tbl>
          </a:graphicData>
        </a:graphic>
      </p:graphicFrame>
      <p:sp>
        <p:nvSpPr>
          <p:cNvPr id="8" name="Title 2">
            <a:extLst>
              <a:ext uri="{FF2B5EF4-FFF2-40B4-BE49-F238E27FC236}">
                <a16:creationId xmlns:a16="http://schemas.microsoft.com/office/drawing/2014/main" id="{969DA2DE-1380-A49B-1C18-6AA15D5D1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49" y="46167"/>
            <a:ext cx="10939781" cy="402028"/>
          </a:xfrm>
          <a:ln w="28575">
            <a:solidFill>
              <a:srgbClr val="C00000"/>
            </a:solidFill>
          </a:ln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Literature Review Summary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473480-7D47-568D-DA7B-D7D20576E9EF}"/>
              </a:ext>
            </a:extLst>
          </p:cNvPr>
          <p:cNvSpPr txBox="1"/>
          <p:nvPr/>
        </p:nvSpPr>
        <p:spPr>
          <a:xfrm>
            <a:off x="1140904" y="6488668"/>
            <a:ext cx="8549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Intelligent Bug Detection and Code Clone Identification Using Hybrid Analysis Techniques</a:t>
            </a:r>
          </a:p>
        </p:txBody>
      </p:sp>
    </p:spTree>
    <p:extLst>
      <p:ext uri="{BB962C8B-B14F-4D97-AF65-F5344CB8AC3E}">
        <p14:creationId xmlns:p14="http://schemas.microsoft.com/office/powerpoint/2010/main" val="3074274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A894FFD-4989-522F-352B-AB6F2C397014}"/>
              </a:ext>
            </a:extLst>
          </p:cNvPr>
          <p:cNvSpPr txBox="1"/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800" dirty="0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E0D8B5FD-F435-B9DC-BEE7-A9692B8790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V="1">
            <a:off x="6746240" y="8488680"/>
            <a:ext cx="4607560" cy="4571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A0663-8695-8CFA-B1EF-3BA1E542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264640" y="8168639"/>
            <a:ext cx="314960" cy="28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E0AC1E2-1EB0-45DD-8913-98CD15D3E8C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600" y="20320"/>
            <a:ext cx="6756400" cy="6881096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B4332A-50B5-4054-A0D4-5C70C8347F7E}"/>
              </a:ext>
            </a:extLst>
          </p:cNvPr>
          <p:cNvSpPr txBox="1"/>
          <p:nvPr/>
        </p:nvSpPr>
        <p:spPr>
          <a:xfrm>
            <a:off x="3901" y="833279"/>
            <a:ext cx="60159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 Input Processing</a:t>
            </a:r>
          </a:p>
          <a:p>
            <a:r>
              <a:rPr lang="en-US" dirty="0"/>
              <a:t>        Source code is filtered and parsed (Java with </a:t>
            </a:r>
            <a:r>
              <a:rPr lang="en-US" dirty="0" err="1"/>
              <a:t>javalang</a:t>
            </a:r>
            <a:r>
              <a:rPr lang="en-US" dirty="0"/>
              <a:t>,       </a:t>
            </a:r>
          </a:p>
          <a:p>
            <a:r>
              <a:rPr lang="en-US" dirty="0"/>
              <a:t>        Python with AST parser) to extract basic code structure.</a:t>
            </a:r>
          </a:p>
          <a:p>
            <a:r>
              <a:rPr lang="en-US" dirty="0"/>
              <a:t>        structure.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 Analysis Engines</a:t>
            </a:r>
            <a:br>
              <a:rPr lang="en-US" dirty="0"/>
            </a:br>
            <a:r>
              <a:rPr lang="en-US" dirty="0"/>
              <a:t> Static and dynamic analyzers study code patterns and       \runtime behavior.</a:t>
            </a:r>
            <a:br>
              <a:rPr lang="en-US" dirty="0"/>
            </a:br>
            <a:r>
              <a:rPr lang="en-US" dirty="0"/>
              <a:t>A BCI agent instruments Java, a </a:t>
            </a:r>
            <a:r>
              <a:rPr lang="en-US" dirty="0" err="1"/>
              <a:t>fuzzer</a:t>
            </a:r>
            <a:r>
              <a:rPr lang="en-US" dirty="0"/>
              <a:t> explores edge cases, and an LLM model creates code embeddings.</a:t>
            </a:r>
            <a:br>
              <a:rPr lang="en-US" dirty="0"/>
            </a:br>
            <a:r>
              <a:rPr lang="en-US" dirty="0"/>
              <a:t>Similarity between code fragments is checked using cosine similarity.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Data Representation</a:t>
            </a:r>
            <a:br>
              <a:rPr lang="en-US" dirty="0"/>
            </a:br>
            <a:r>
              <a:rPr lang="en-US" dirty="0"/>
              <a:t>All extracted information is stored as structural features, vector embeddings, and execution logs/anomalies.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Intelligence &amp; Fusion</a:t>
            </a:r>
            <a:br>
              <a:rPr lang="en-US" dirty="0"/>
            </a:br>
            <a:r>
              <a:rPr lang="en-US" dirty="0"/>
              <a:t>Static, dynamic, and semantic signals are fused.</a:t>
            </a:r>
            <a:br>
              <a:rPr lang="en-US" dirty="0"/>
            </a:br>
            <a:r>
              <a:rPr lang="en-US" dirty="0"/>
              <a:t>A classifier detects inconsistent clones, semantic bugs, and abnormal code behavior.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Reporting</a:t>
            </a:r>
            <a:br>
              <a:rPr lang="en-US" dirty="0"/>
            </a:br>
            <a:r>
              <a:rPr lang="en-US" dirty="0"/>
              <a:t>The system generates AST diagrams, final reports, result files, and flags high-risk code as latent bugs.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32E85A50-6981-8BAC-F3A5-B04E11EBC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548" y="170323"/>
            <a:ext cx="8351144" cy="464000"/>
          </a:xfrm>
          <a:ln w="28575">
            <a:solidFill>
              <a:srgbClr val="C00000"/>
            </a:solidFill>
          </a:ln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A412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Design/Architecture</a:t>
            </a:r>
          </a:p>
        </p:txBody>
      </p:sp>
    </p:spTree>
    <p:extLst>
      <p:ext uri="{BB962C8B-B14F-4D97-AF65-F5344CB8AC3E}">
        <p14:creationId xmlns:p14="http://schemas.microsoft.com/office/powerpoint/2010/main" val="3118821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A0663-8695-8CFA-B1EF-3BA1E542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C8C13A2-E9B4-4EB6-827B-CE21923247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8661" y="829892"/>
            <a:ext cx="4530453" cy="3853363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rtl="0" eaLnBrk="0" fontAlgn="base" latinLnBrk="0" hangingPunc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kern="120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Static, Semantic &amp; Dynamic Analysis</a:t>
            </a:r>
          </a:p>
          <a:p>
            <a:pPr marL="0" marR="0" indent="0" algn="l" rtl="0" eaLnBrk="0" fontAlgn="base" latinLnBrk="0" hangingPunct="0">
              <a:spcBef>
                <a:spcPts val="0"/>
              </a:spcBef>
              <a:spcAft>
                <a:spcPts val="0"/>
              </a:spcAft>
              <a:buNone/>
            </a:pPr>
            <a:endParaRPr lang="en-IN" sz="1600" dirty="0">
              <a:solidFill>
                <a:schemeClr val="bg1"/>
              </a:solidFill>
              <a:effectLst/>
            </a:endParaRPr>
          </a:p>
          <a:p>
            <a:pPr marL="74295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b="1" i="0" kern="120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Static Analysis (Python &amp; Java)</a:t>
            </a:r>
            <a:endParaRPr lang="en-IN" sz="1600" dirty="0">
              <a:solidFill>
                <a:schemeClr val="bg1"/>
              </a:solidFill>
              <a:effectLst/>
            </a:endParaRPr>
          </a:p>
          <a:p>
            <a:pPr marL="74295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b="0" i="0" kern="120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Parses code without executing it.</a:t>
            </a:r>
            <a:endParaRPr lang="en-IN" sz="1600" dirty="0">
              <a:solidFill>
                <a:schemeClr val="bg1"/>
              </a:solidFill>
              <a:effectLst/>
            </a:endParaRPr>
          </a:p>
          <a:p>
            <a:pPr marL="74295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b="1" i="0" kern="120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Python:</a:t>
            </a:r>
            <a:r>
              <a:rPr lang="en-US" sz="1800" b="0" i="0" kern="120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Uses </a:t>
            </a:r>
            <a:r>
              <a:rPr lang="en-US" sz="1800" b="0" i="0" kern="120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ast</a:t>
            </a:r>
            <a:r>
              <a:rPr lang="en-US" sz="1800" b="0" i="0" kern="120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module to extract statements, branches, and detect rule-based bugs.</a:t>
            </a:r>
            <a:endParaRPr lang="en-IN" sz="1600" dirty="0">
              <a:solidFill>
                <a:schemeClr val="bg1"/>
              </a:solidFill>
              <a:effectLst/>
            </a:endParaRPr>
          </a:p>
          <a:p>
            <a:pPr marL="74295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b="1" i="0" kern="120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Java:</a:t>
            </a:r>
            <a:r>
              <a:rPr lang="en-US" sz="1800" b="0" i="0" kern="120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Uses </a:t>
            </a:r>
            <a:r>
              <a:rPr lang="en-US" sz="1800" b="0" i="0" kern="120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javalang</a:t>
            </a:r>
            <a:r>
              <a:rPr lang="en-US" sz="1800" b="0" i="0" kern="120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+ regex to count statements, branches, and catch common issues (e.g., empty catch blocks).</a:t>
            </a:r>
            <a:endParaRPr lang="en-IN" sz="1600" dirty="0"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562D744-9B49-A31C-AE1A-79D614858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547" y="170323"/>
            <a:ext cx="10939781" cy="464000"/>
          </a:xfrm>
          <a:ln w="28575">
            <a:solidFill>
              <a:srgbClr val="C00000"/>
            </a:solidFill>
          </a:ln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Algorithms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084759F-87E5-3090-A207-900BBBC4E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1600" y="1819480"/>
            <a:ext cx="3632558" cy="3484031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rtl="0" eaLnBrk="0" fontAlgn="base" latinLnBrk="0" hangingPunc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kern="120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Semantic Analysis</a:t>
            </a:r>
          </a:p>
          <a:p>
            <a:pPr marL="0" marR="0" indent="0" algn="l" rtl="0" eaLnBrk="0" fontAlgn="base" latinLnBrk="0" hangingPunct="0">
              <a:spcBef>
                <a:spcPts val="0"/>
              </a:spcBef>
              <a:spcAft>
                <a:spcPts val="0"/>
              </a:spcAft>
            </a:pPr>
            <a:endParaRPr lang="en-IN" sz="1600" dirty="0">
              <a:solidFill>
                <a:schemeClr val="bg1"/>
              </a:solidFill>
              <a:effectLst/>
            </a:endParaRPr>
          </a:p>
          <a:p>
            <a:pPr marL="74295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b="0" i="0" kern="120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Generates vector embeddings using </a:t>
            </a:r>
            <a:r>
              <a:rPr lang="en-US" sz="1800" b="1" i="0" kern="120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Sentence-Transformers (</a:t>
            </a:r>
            <a:r>
              <a:rPr lang="en-US" sz="1800" b="1" i="0" kern="120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MiniLM</a:t>
            </a:r>
            <a:r>
              <a:rPr lang="en-US" sz="1800" b="1" i="0" kern="120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r>
              <a:rPr lang="en-US" sz="1800" b="0" i="0" kern="120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endParaRPr lang="en-IN" sz="1600" dirty="0">
              <a:solidFill>
                <a:schemeClr val="bg1"/>
              </a:solidFill>
              <a:effectLst/>
            </a:endParaRPr>
          </a:p>
          <a:p>
            <a:pPr marL="74295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b="0" i="0" kern="120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Measures </a:t>
            </a:r>
            <a:r>
              <a:rPr lang="en-US" sz="1800" b="1" i="0" kern="120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cosine similarity</a:t>
            </a:r>
            <a:r>
              <a:rPr lang="en-US" sz="1800" b="0" i="0" kern="120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to detect semantic clones.</a:t>
            </a:r>
            <a:endParaRPr lang="en-IN" sz="1600" dirty="0">
              <a:solidFill>
                <a:schemeClr val="bg1"/>
              </a:solidFill>
              <a:effectLst/>
            </a:endParaRPr>
          </a:p>
          <a:p>
            <a:pPr marL="74295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b="0" i="0" kern="120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Flags pairs with </a:t>
            </a:r>
            <a:r>
              <a:rPr lang="en-US" sz="1800" b="1" i="0" kern="120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similarity ≥ 0.75</a:t>
            </a:r>
            <a:r>
              <a:rPr lang="en-US" sz="1800" b="0" i="0" kern="120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endParaRPr lang="en-IN" sz="1600" dirty="0">
              <a:solidFill>
                <a:schemeClr val="bg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DF02722-0109-C91E-8BE0-6BA5BD7EA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6644" y="2860138"/>
            <a:ext cx="3635355" cy="3484031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rtl="0" eaLnBrk="0" fontAlgn="base" latinLnBrk="0" hangingPunc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kern="120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Dynamic Analysis</a:t>
            </a:r>
          </a:p>
          <a:p>
            <a:pPr marL="0" marR="0" indent="0" algn="l" rtl="0" eaLnBrk="0" fontAlgn="base" latinLnBrk="0" hangingPunct="0">
              <a:spcBef>
                <a:spcPts val="0"/>
              </a:spcBef>
              <a:spcAft>
                <a:spcPts val="0"/>
              </a:spcAft>
              <a:buNone/>
            </a:pPr>
            <a:endParaRPr lang="en-IN" sz="1600" dirty="0">
              <a:solidFill>
                <a:schemeClr val="bg1"/>
              </a:solidFill>
              <a:effectLst/>
            </a:endParaRPr>
          </a:p>
          <a:p>
            <a:pPr marL="74295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b="0" i="0" kern="120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Executes code multiple times (fuzzing style).</a:t>
            </a:r>
            <a:endParaRPr lang="en-IN" sz="1600" dirty="0">
              <a:solidFill>
                <a:schemeClr val="bg1"/>
              </a:solidFill>
              <a:effectLst/>
            </a:endParaRPr>
          </a:p>
          <a:p>
            <a:pPr marL="74295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b="0" i="0" kern="120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Captures </a:t>
            </a:r>
            <a:r>
              <a:rPr lang="en-US" sz="1800" b="0" i="0" kern="120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stdout</a:t>
            </a:r>
            <a:r>
              <a:rPr lang="en-US" sz="1800" b="0" i="0" kern="120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stderr, exceptions, and non-zero return codes.</a:t>
            </a:r>
            <a:endParaRPr lang="en-IN" sz="1600" dirty="0">
              <a:solidFill>
                <a:schemeClr val="bg1"/>
              </a:solidFill>
              <a:effectLst/>
            </a:endParaRPr>
          </a:p>
          <a:p>
            <a:pPr marL="742950" indent="-285750" algn="l" rtl="0" eaLnBrk="0" fontAlgn="base" latinLnBrk="0" hangingPunc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b="0" i="0" kern="120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Detects anomalies like crashes, intermittent failures, timeouts, and resource errors.</a:t>
            </a:r>
            <a:endParaRPr lang="en-IN" sz="1600" dirty="0">
              <a:solidFill>
                <a:schemeClr val="bg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0301AC-DD88-999E-FC30-A0EF66C391EB}"/>
              </a:ext>
            </a:extLst>
          </p:cNvPr>
          <p:cNvSpPr txBox="1"/>
          <p:nvPr/>
        </p:nvSpPr>
        <p:spPr>
          <a:xfrm>
            <a:off x="1140904" y="6488668"/>
            <a:ext cx="8549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Intelligent Bug Detection and Code Clone Identification Using Hybrid Analysis Techniques</a:t>
            </a:r>
          </a:p>
        </p:txBody>
      </p:sp>
    </p:spTree>
    <p:extLst>
      <p:ext uri="{BB962C8B-B14F-4D97-AF65-F5344CB8AC3E}">
        <p14:creationId xmlns:p14="http://schemas.microsoft.com/office/powerpoint/2010/main" val="2543099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A0663-8695-8CFA-B1EF-3BA1E542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EF2408EE-7DFE-4C8E-52E2-B9D0F26D4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547" y="170323"/>
            <a:ext cx="10939781" cy="464000"/>
          </a:xfrm>
          <a:ln w="28575">
            <a:solidFill>
              <a:srgbClr val="C00000"/>
            </a:solidFill>
          </a:ln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Algorithms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022378-63FA-6B04-7700-2E22FF00109C}"/>
              </a:ext>
            </a:extLst>
          </p:cNvPr>
          <p:cNvSpPr txBox="1"/>
          <p:nvPr/>
        </p:nvSpPr>
        <p:spPr>
          <a:xfrm>
            <a:off x="1140904" y="6488668"/>
            <a:ext cx="8549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Intelligent Bug Detection and Code Clone Identification Using Hybrid Analysis Techniques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60207FE-537C-F749-3426-F152DE653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702908"/>
              </p:ext>
            </p:extLst>
          </p:nvPr>
        </p:nvGraphicFramePr>
        <p:xfrm>
          <a:off x="0" y="755010"/>
          <a:ext cx="12192003" cy="5623556"/>
        </p:xfrm>
        <a:graphic>
          <a:graphicData uri="http://schemas.openxmlformats.org/drawingml/2006/table">
            <a:tbl>
              <a:tblPr/>
              <a:tblGrid>
                <a:gridCol w="4064001">
                  <a:extLst>
                    <a:ext uri="{9D8B030D-6E8A-4147-A177-3AD203B41FA5}">
                      <a16:colId xmlns:a16="http://schemas.microsoft.com/office/drawing/2014/main" val="2773319876"/>
                    </a:ext>
                  </a:extLst>
                </a:gridCol>
                <a:gridCol w="4064001">
                  <a:extLst>
                    <a:ext uri="{9D8B030D-6E8A-4147-A177-3AD203B41FA5}">
                      <a16:colId xmlns:a16="http://schemas.microsoft.com/office/drawing/2014/main" val="77618249"/>
                    </a:ext>
                  </a:extLst>
                </a:gridCol>
                <a:gridCol w="4064001">
                  <a:extLst>
                    <a:ext uri="{9D8B030D-6E8A-4147-A177-3AD203B41FA5}">
                      <a16:colId xmlns:a16="http://schemas.microsoft.com/office/drawing/2014/main" val="1090208999"/>
                    </a:ext>
                  </a:extLst>
                </a:gridCol>
              </a:tblGrid>
              <a:tr h="284034">
                <a:tc>
                  <a:txBody>
                    <a:bodyPr/>
                    <a:lstStyle/>
                    <a:p>
                      <a:pPr fontAlgn="t"/>
                      <a:r>
                        <a:rPr lang="en-IN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Category</a:t>
                      </a:r>
                    </a:p>
                  </a:txBody>
                  <a:tcPr marL="22088" marR="22088" marT="11044" marB="11044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Sub-Module</a:t>
                      </a:r>
                    </a:p>
                  </a:txBody>
                  <a:tcPr marL="22088" marR="22088" marT="11044" marB="110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 / Checks Performed</a:t>
                      </a:r>
                    </a:p>
                  </a:txBody>
                  <a:tcPr marL="22088" marR="22088" marT="11044" marB="110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627871"/>
                  </a:ext>
                </a:extLst>
              </a:tr>
              <a:tr h="1476974">
                <a:tc>
                  <a:txBody>
                    <a:bodyPr/>
                    <a:lstStyle/>
                    <a:p>
                      <a:pPr fontAlgn="t"/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Static Rule-Based Checks</a:t>
                      </a:r>
                    </a:p>
                  </a:txBody>
                  <a:tcPr marL="22088" marR="22088" marT="11044" marB="110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Python (AST- Based)</a:t>
                      </a:r>
                    </a:p>
                  </a:txBody>
                  <a:tcPr marL="22088" marR="22088" marT="11044" marB="110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fontAlgn="t">
                        <a:buFont typeface="Wingdings" panose="05000000000000000000" pitchFamily="2" charset="2"/>
                        <a:buChar char="§"/>
                      </a:pPr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Mutable default arguments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§"/>
                      </a:pPr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Unused parameters 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§"/>
                      </a:pPr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Shadowed built-ins  Unreachable code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§"/>
                      </a:pPr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Empty/bare </a:t>
                      </a:r>
                      <a:r>
                        <a:rPr lang="en-IN" sz="1600" dirty="0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except</a:t>
                      </a:r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blocks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§"/>
                      </a:pPr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Suspicious comparisons ( </a:t>
                      </a:r>
                      <a:r>
                        <a:rPr lang="en-IN" sz="1600" dirty="0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== None </a:t>
                      </a:r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wrong types)</a:t>
                      </a:r>
                    </a:p>
                  </a:txBody>
                  <a:tcPr marL="22088" marR="22088" marT="11044" marB="110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627547"/>
                  </a:ext>
                </a:extLst>
              </a:tr>
              <a:tr h="1221343">
                <a:tc>
                  <a:txBody>
                    <a:bodyPr/>
                    <a:lstStyle/>
                    <a:p>
                      <a:pPr fontAlgn="t"/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Static Rule-Based Checks</a:t>
                      </a:r>
                    </a:p>
                  </a:txBody>
                  <a:tcPr marL="22088" marR="22088" marT="11044" marB="110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Java (Regex- Based)</a:t>
                      </a:r>
                    </a:p>
                  </a:txBody>
                  <a:tcPr marL="22088" marR="22088" marT="11044" marB="110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fontAlgn="t">
                        <a:buFont typeface="Wingdings" panose="05000000000000000000" pitchFamily="2" charset="2"/>
                        <a:buChar char="§"/>
                      </a:pPr>
                      <a:r>
                        <a:rPr lang="en-US" sz="1600" dirty="0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== used 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 String comparison 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§"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Empty </a:t>
                      </a:r>
                      <a:r>
                        <a:rPr lang="en-US" sz="1600" dirty="0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catch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blocks 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§"/>
                      </a:pPr>
                      <a:r>
                        <a:rPr lang="en-US" sz="1600" dirty="0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return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inside </a:t>
                      </a:r>
                      <a:r>
                        <a:rPr lang="en-US" sz="1600" dirty="0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finally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§"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Hardcoded credentials 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§"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of </a:t>
                      </a:r>
                      <a:r>
                        <a:rPr lang="en-US" sz="1600" dirty="0" err="1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System.exit</a:t>
                      </a:r>
                      <a:r>
                        <a:rPr lang="en-US" sz="1600" dirty="0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</a:p>
                  </a:txBody>
                  <a:tcPr marL="22088" marR="22088" marT="11044" marB="110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608611"/>
                  </a:ext>
                </a:extLst>
              </a:tr>
              <a:tr h="1306553">
                <a:tc>
                  <a:txBody>
                    <a:bodyPr/>
                    <a:lstStyle/>
                    <a:p>
                      <a:pPr fontAlgn="t"/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Logical Checker</a:t>
                      </a:r>
                    </a:p>
                  </a:txBody>
                  <a:tcPr marL="22088" marR="22088" marT="11044" marB="110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___</a:t>
                      </a:r>
                      <a:endParaRPr lang="en-IN" sz="16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2088" marR="22088" marT="11044" marB="110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Contradictory conditions - Redundant conditions - Docstring vs implementation mismatch . Self-comparison bugs (</a:t>
                      </a:r>
                      <a:r>
                        <a:rPr lang="en-IN" sz="1600" dirty="0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 == x </a:t>
                      </a:r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IN" sz="1600" dirty="0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x!=x </a:t>
                      </a:r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22088" marR="22088" marT="11044" marB="110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090872"/>
                  </a:ext>
                </a:extLst>
              </a:tr>
              <a:tr h="1306553">
                <a:tc>
                  <a:txBody>
                    <a:bodyPr/>
                    <a:lstStyle/>
                    <a:p>
                      <a:pPr fontAlgn="t"/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Runtime Analyzer</a:t>
                      </a:r>
                    </a:p>
                  </a:txBody>
                  <a:tcPr marL="22088" marR="22088" marT="11044" marB="11044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_</a:t>
                      </a:r>
                      <a:r>
                        <a:rPr lang="en-IN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__</a:t>
                      </a:r>
                    </a:p>
                  </a:txBody>
                  <a:tcPr marL="22088" marR="22088" marT="11044" marB="110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fontAlgn="t">
                        <a:buFont typeface="Wingdings" panose="05000000000000000000" pitchFamily="2" charset="2"/>
                        <a:buChar char="§"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Detects crashes/exceptions </a:t>
                      </a:r>
                      <a:r>
                        <a:rPr lang="en-US" sz="1600" dirty="0" err="1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MemoryError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 </a:t>
                      </a:r>
                      <a:r>
                        <a:rPr lang="en-US" sz="1600" dirty="0" err="1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NullPointerException</a:t>
                      </a:r>
                      <a:r>
                        <a:rPr lang="en-US" sz="1600" dirty="0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etc.) 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§"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Infinite loops 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§"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Timeouts</a:t>
                      </a:r>
                    </a:p>
                    <a:p>
                      <a:pPr marL="285750" indent="-285750" fontAlgn="t">
                        <a:buFont typeface="Wingdings" panose="05000000000000000000" pitchFamily="2" charset="2"/>
                        <a:buChar char="§"/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General runtime failure reporting</a:t>
                      </a:r>
                    </a:p>
                  </a:txBody>
                  <a:tcPr marL="22088" marR="22088" marT="11044" marB="110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553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1183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A0663-8695-8CFA-B1EF-3BA1E542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98858"/>
            <a:ext cx="571499" cy="292081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DA5741DF-2DAD-59B9-48AA-8C83C0FF61E0}"/>
              </a:ext>
            </a:extLst>
          </p:cNvPr>
          <p:cNvSpPr txBox="1">
            <a:spLocks/>
          </p:cNvSpPr>
          <p:nvPr/>
        </p:nvSpPr>
        <p:spPr>
          <a:xfrm>
            <a:off x="430547" y="170323"/>
            <a:ext cx="10939781" cy="464000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rgbClr val="A4123F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IN" dirty="0"/>
              <a:t>Result Analysis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1D694F-D022-10D7-5BA3-1195E5183CC2}"/>
              </a:ext>
            </a:extLst>
          </p:cNvPr>
          <p:cNvSpPr txBox="1"/>
          <p:nvPr/>
        </p:nvSpPr>
        <p:spPr>
          <a:xfrm>
            <a:off x="1140904" y="6488668"/>
            <a:ext cx="8549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Intelligent Bug Detection and Code Clone Identification Using Hybrid Analysis Techniques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E1EEE0-FDEC-3096-5860-BCC03955B176}"/>
              </a:ext>
            </a:extLst>
          </p:cNvPr>
          <p:cNvSpPr txBox="1"/>
          <p:nvPr/>
        </p:nvSpPr>
        <p:spPr>
          <a:xfrm>
            <a:off x="293615" y="917443"/>
            <a:ext cx="6031684" cy="6284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1">
              <a:spcBef>
                <a:spcPts val="5"/>
              </a:spcBef>
              <a:spcAft>
                <a:spcPts val="0"/>
              </a:spcAft>
              <a:buSzPts val="1700"/>
              <a:tabLst>
                <a:tab pos="739775" algn="l"/>
              </a:tabLst>
            </a:pPr>
            <a:r>
              <a:rPr lang="en-US" sz="1700" b="1" spc="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Static</a:t>
            </a:r>
            <a:r>
              <a:rPr lang="en-US" sz="1700" b="1" spc="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700" b="1" spc="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Analysis</a:t>
            </a:r>
            <a:r>
              <a:rPr lang="en-US" sz="1700" b="1" spc="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700" b="1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Output :</a:t>
            </a:r>
            <a:endParaRPr lang="en-IN" sz="1700" b="1" spc="0" dirty="0"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marL="179705" marR="628015" algn="just">
              <a:lnSpc>
                <a:spcPct val="105000"/>
              </a:lnSpc>
              <a:spcBef>
                <a:spcPts val="1295"/>
              </a:spcBef>
              <a:spcAft>
                <a:spcPts val="0"/>
              </a:spcAft>
            </a:pP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The</a:t>
            </a:r>
            <a:r>
              <a:rPr lang="en-US" sz="1400" spc="-4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static</a:t>
            </a:r>
            <a:r>
              <a:rPr lang="en-US" sz="1400" spc="-4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analysis</a:t>
            </a:r>
            <a:r>
              <a:rPr lang="en-US" sz="1400" spc="-4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module</a:t>
            </a:r>
            <a:r>
              <a:rPr lang="en-US" sz="1400" spc="-4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successfully</a:t>
            </a:r>
            <a:r>
              <a:rPr lang="en-US" sz="1400" spc="-4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parsed</a:t>
            </a:r>
            <a:r>
              <a:rPr lang="en-US" sz="1400" spc="-4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all</a:t>
            </a:r>
            <a:r>
              <a:rPr lang="en-US" sz="1400" spc="-4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Python</a:t>
            </a:r>
            <a:r>
              <a:rPr lang="en-US" sz="1400" spc="-4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and</a:t>
            </a:r>
            <a:r>
              <a:rPr lang="en-US" sz="1400" spc="-4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Java</a:t>
            </a:r>
            <a:r>
              <a:rPr lang="en-US" sz="1400" spc="-4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files,</a:t>
            </a:r>
            <a:r>
              <a:rPr lang="en-US" sz="1400" spc="-4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extracting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Abstract</a:t>
            </a:r>
            <a:r>
              <a:rPr lang="en-US" sz="1400" spc="-3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Syntax</a:t>
            </a:r>
            <a:r>
              <a:rPr lang="en-US" sz="1400" spc="-3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Tree</a:t>
            </a:r>
            <a:r>
              <a:rPr lang="en-US" sz="1400" spc="-3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features,</a:t>
            </a:r>
            <a:r>
              <a:rPr lang="en-US" sz="1400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function/method</a:t>
            </a:r>
            <a:r>
              <a:rPr lang="en-US" sz="1400" spc="-3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definitions,</a:t>
            </a:r>
            <a:r>
              <a:rPr lang="en-US" sz="1400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structural</a:t>
            </a:r>
            <a:r>
              <a:rPr lang="en-US" sz="1400" spc="-3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metrics</a:t>
            </a:r>
            <a:r>
              <a:rPr lang="en-US" sz="1400" spc="-3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such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as branching complexity, and lexical patterns.</a:t>
            </a:r>
            <a:r>
              <a:rPr lang="en-US" sz="1400" spc="2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The system analyzed 8 files and extracted 46 unique function or method snippets.</a:t>
            </a:r>
            <a:r>
              <a:rPr lang="en-US" sz="1400" spc="2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This confirms that the parser </a:t>
            </a:r>
            <a:r>
              <a:rPr lang="en-US" sz="1400" spc="-4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works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4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reliably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4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across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4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mixed-language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4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environments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4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and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4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provides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4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a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4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stable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4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foundation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for semantic and dynamic modules.</a:t>
            </a:r>
          </a:p>
          <a:p>
            <a:pPr marL="179705" marR="628015" algn="just">
              <a:lnSpc>
                <a:spcPct val="105000"/>
              </a:lnSpc>
              <a:spcBef>
                <a:spcPts val="1295"/>
              </a:spcBef>
              <a:spcAft>
                <a:spcPts val="0"/>
              </a:spcAft>
            </a:pPr>
            <a:endParaRPr lang="en-US" sz="1200" dirty="0"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marL="179705" marR="628015" algn="just">
              <a:lnSpc>
                <a:spcPct val="105000"/>
              </a:lnSpc>
              <a:spcBef>
                <a:spcPts val="1295"/>
              </a:spcBef>
              <a:spcAft>
                <a:spcPts val="0"/>
              </a:spcAft>
            </a:pPr>
            <a:endParaRPr lang="en-US" sz="1200" dirty="0"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marL="179705" marR="628015" algn="just">
              <a:lnSpc>
                <a:spcPct val="105000"/>
              </a:lnSpc>
              <a:spcBef>
                <a:spcPts val="1295"/>
              </a:spcBef>
              <a:spcAft>
                <a:spcPts val="0"/>
              </a:spcAft>
            </a:pPr>
            <a:endParaRPr lang="en-US" sz="1200" dirty="0"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marL="179705" marR="628015" algn="just">
              <a:lnSpc>
                <a:spcPct val="105000"/>
              </a:lnSpc>
              <a:spcBef>
                <a:spcPts val="1295"/>
              </a:spcBef>
              <a:spcAft>
                <a:spcPts val="0"/>
              </a:spcAft>
            </a:pPr>
            <a:endParaRPr lang="en-US" sz="1200" dirty="0"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marL="179705" marR="628015" algn="just">
              <a:lnSpc>
                <a:spcPct val="105000"/>
              </a:lnSpc>
              <a:spcBef>
                <a:spcPts val="1295"/>
              </a:spcBef>
              <a:spcAft>
                <a:spcPts val="0"/>
              </a:spcAft>
            </a:pPr>
            <a:endParaRPr lang="en-US" sz="1200" dirty="0"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marL="179705" marR="628015" algn="just">
              <a:lnSpc>
                <a:spcPct val="105000"/>
              </a:lnSpc>
              <a:spcBef>
                <a:spcPts val="1295"/>
              </a:spcBef>
              <a:spcAft>
                <a:spcPts val="0"/>
              </a:spcAft>
            </a:pPr>
            <a:endParaRPr lang="en-US" sz="1200" dirty="0"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marL="179705" marR="628015" algn="just">
              <a:lnSpc>
                <a:spcPct val="105000"/>
              </a:lnSpc>
              <a:spcBef>
                <a:spcPts val="1295"/>
              </a:spcBef>
              <a:spcAft>
                <a:spcPts val="0"/>
              </a:spcAft>
            </a:pPr>
            <a:endParaRPr lang="en-US" sz="1200" dirty="0"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marL="179705" marR="628015" algn="just">
              <a:lnSpc>
                <a:spcPct val="105000"/>
              </a:lnSpc>
              <a:spcBef>
                <a:spcPts val="1295"/>
              </a:spcBef>
              <a:spcAft>
                <a:spcPts val="0"/>
              </a:spcAft>
            </a:pPr>
            <a:endParaRPr lang="en-US" sz="1200" dirty="0"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marL="179705" marR="628015" algn="just">
              <a:lnSpc>
                <a:spcPct val="105000"/>
              </a:lnSpc>
              <a:spcBef>
                <a:spcPts val="1295"/>
              </a:spcBef>
              <a:spcAft>
                <a:spcPts val="0"/>
              </a:spcAft>
            </a:pPr>
            <a:endParaRPr lang="en-US" sz="1200" dirty="0"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marL="179705" marR="628015" algn="just">
              <a:lnSpc>
                <a:spcPct val="105000"/>
              </a:lnSpc>
              <a:spcBef>
                <a:spcPts val="1295"/>
              </a:spcBef>
              <a:spcAft>
                <a:spcPts val="0"/>
              </a:spcAft>
            </a:pPr>
            <a:endParaRPr lang="en-US" sz="1200" dirty="0"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marL="179705" marR="628015" algn="just">
              <a:lnSpc>
                <a:spcPct val="105000"/>
              </a:lnSpc>
              <a:spcBef>
                <a:spcPts val="1295"/>
              </a:spcBef>
              <a:spcAft>
                <a:spcPts val="0"/>
              </a:spcAft>
            </a:pPr>
            <a:endParaRPr lang="en-IN" sz="1200" dirty="0"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</p:txBody>
      </p:sp>
      <p:pic>
        <p:nvPicPr>
          <p:cNvPr id="3" name="Image 22">
            <a:extLst>
              <a:ext uri="{FF2B5EF4-FFF2-40B4-BE49-F238E27FC236}">
                <a16:creationId xmlns:a16="http://schemas.microsoft.com/office/drawing/2014/main" id="{3AA650EB-A358-47A4-5CA3-CD8950769C2F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76097" y="3160235"/>
            <a:ext cx="3327750" cy="29539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5D690C-0A5E-CC24-C6A1-7612B73CB22E}"/>
              </a:ext>
            </a:extLst>
          </p:cNvPr>
          <p:cNvSpPr txBox="1"/>
          <p:nvPr/>
        </p:nvSpPr>
        <p:spPr>
          <a:xfrm>
            <a:off x="5805182" y="738231"/>
            <a:ext cx="6031684" cy="232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1240"/>
              </a:spcBef>
              <a:spcAft>
                <a:spcPts val="0"/>
              </a:spcAft>
            </a:pPr>
            <a:r>
              <a:rPr lang="en-US" sz="12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 </a:t>
            </a:r>
            <a:endParaRPr lang="en-IN" sz="1200" dirty="0"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marR="0" lvl="1">
              <a:spcBef>
                <a:spcPts val="0"/>
              </a:spcBef>
              <a:spcAft>
                <a:spcPts val="0"/>
              </a:spcAft>
              <a:buSzPts val="1700"/>
              <a:tabLst>
                <a:tab pos="739775" algn="l"/>
              </a:tabLst>
            </a:pPr>
            <a:r>
              <a:rPr lang="en-US" sz="1700" b="1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Semantic</a:t>
            </a:r>
            <a:r>
              <a:rPr lang="en-US" sz="1700" b="1" spc="4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700" b="1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Analysis</a:t>
            </a:r>
            <a:r>
              <a:rPr lang="en-US" sz="1700" b="1" spc="5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700" b="1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Output :</a:t>
            </a:r>
            <a:endParaRPr lang="en-IN" sz="1700" b="1" dirty="0"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marL="179705" marR="628015" algn="just">
              <a:lnSpc>
                <a:spcPct val="105000"/>
              </a:lnSpc>
              <a:spcBef>
                <a:spcPts val="1300"/>
              </a:spcBef>
              <a:spcAft>
                <a:spcPts val="0"/>
              </a:spcAft>
            </a:pP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The</a:t>
            </a:r>
            <a:r>
              <a:rPr lang="en-US" sz="1400" spc="-7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system</a:t>
            </a:r>
            <a:r>
              <a:rPr lang="en-US" sz="1400" spc="-7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utilized</a:t>
            </a:r>
            <a:r>
              <a:rPr lang="en-US" sz="1400" spc="-7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a</a:t>
            </a:r>
            <a:r>
              <a:rPr lang="en-US" sz="1400" spc="-7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combination</a:t>
            </a:r>
            <a:r>
              <a:rPr lang="en-US" sz="1400" spc="-7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of</a:t>
            </a:r>
            <a:r>
              <a:rPr lang="en-US" sz="1400" spc="-7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semantic</a:t>
            </a:r>
            <a:r>
              <a:rPr lang="en-US" sz="1400" spc="-7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embeddings</a:t>
            </a:r>
            <a:r>
              <a:rPr lang="en-US" sz="1400" spc="-7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and</a:t>
            </a:r>
            <a:r>
              <a:rPr lang="en-US" sz="1400" spc="-7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structural</a:t>
            </a:r>
            <a:r>
              <a:rPr lang="en-US" sz="1400" spc="-7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feature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similarity</a:t>
            </a:r>
            <a:r>
              <a:rPr lang="en-US" sz="1400" spc="-5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to</a:t>
            </a:r>
            <a:r>
              <a:rPr lang="en-US" sz="1400" spc="-5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identify</a:t>
            </a:r>
            <a:r>
              <a:rPr lang="en-US" sz="1400" spc="-5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meaningful</a:t>
            </a:r>
            <a:r>
              <a:rPr lang="en-US" sz="1400" spc="-5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relationships</a:t>
            </a:r>
            <a:r>
              <a:rPr lang="en-US" sz="1400" spc="-5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between</a:t>
            </a:r>
            <a:r>
              <a:rPr lang="en-US" sz="1400" spc="-5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code</a:t>
            </a:r>
            <a:r>
              <a:rPr lang="en-US" sz="1400" spc="-5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fragments.</a:t>
            </a:r>
            <a:r>
              <a:rPr lang="en-US" sz="1400" spc="8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Instead</a:t>
            </a:r>
            <a:r>
              <a:rPr lang="en-US" sz="1400" spc="-5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of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relying</a:t>
            </a:r>
            <a:r>
              <a:rPr lang="en-US" sz="1400" spc="-5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on</a:t>
            </a:r>
            <a:r>
              <a:rPr lang="en-US" sz="1400" spc="-5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true</a:t>
            </a:r>
            <a:r>
              <a:rPr lang="en-US" sz="1400" spc="-5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execution-level</a:t>
            </a:r>
            <a:r>
              <a:rPr lang="en-US" sz="1400" spc="-5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call</a:t>
            </a:r>
            <a:r>
              <a:rPr lang="en-US" sz="1400" spc="-5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tracing,</a:t>
            </a:r>
            <a:r>
              <a:rPr lang="en-US" sz="1400" spc="-5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the</a:t>
            </a:r>
            <a:r>
              <a:rPr lang="en-US" sz="1400" spc="-5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prototype</a:t>
            </a:r>
            <a:r>
              <a:rPr lang="en-US" sz="1400" spc="-5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employs</a:t>
            </a:r>
            <a:r>
              <a:rPr lang="en-US" sz="1400" spc="-5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embedding-based </a:t>
            </a:r>
            <a:r>
              <a:rPr lang="en-US" sz="1400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pairing and lightweight fuzzing feedback to approximate how functions may </a:t>
            </a:r>
            <a:r>
              <a:rPr lang="en-US" sz="1400" spc="-30" dirty="0" err="1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concep</a:t>
            </a:r>
            <a:r>
              <a:rPr lang="en-US" sz="1400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- </a:t>
            </a:r>
            <a:r>
              <a:rPr lang="en-US" sz="1400" spc="-20" dirty="0" err="1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tually</a:t>
            </a:r>
            <a:r>
              <a:rPr lang="en-US" sz="1400" spc="-4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relate</a:t>
            </a:r>
            <a:r>
              <a:rPr lang="en-US" sz="1400" spc="-4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or</a:t>
            </a:r>
            <a:r>
              <a:rPr lang="en-US" sz="1400" spc="-4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behave</a:t>
            </a:r>
            <a:r>
              <a:rPr lang="en-US" sz="1400" spc="-4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similarly.</a:t>
            </a:r>
            <a:endParaRPr lang="en-IN" sz="1800" dirty="0"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marR="0" lvl="1">
              <a:spcBef>
                <a:spcPts val="0"/>
              </a:spcBef>
              <a:spcAft>
                <a:spcPts val="0"/>
              </a:spcAft>
              <a:buSzPts val="1700"/>
              <a:tabLst>
                <a:tab pos="739775" algn="l"/>
              </a:tabLst>
            </a:pPr>
            <a:endParaRPr lang="en-US" sz="1700" b="1" spc="-30" dirty="0"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</p:txBody>
      </p:sp>
      <p:pic>
        <p:nvPicPr>
          <p:cNvPr id="6" name="Image 24">
            <a:extLst>
              <a:ext uri="{FF2B5EF4-FFF2-40B4-BE49-F238E27FC236}">
                <a16:creationId xmlns:a16="http://schemas.microsoft.com/office/drawing/2014/main" id="{A68E1552-F660-386A-1D01-67130B8B0803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11138" y="3268970"/>
            <a:ext cx="3754120" cy="258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140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A0663-8695-8CFA-B1EF-3BA1E542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98858"/>
            <a:ext cx="571499" cy="292081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F1E17E0E-46A7-9BC1-30A2-460BE7752111}"/>
              </a:ext>
            </a:extLst>
          </p:cNvPr>
          <p:cNvSpPr txBox="1">
            <a:spLocks/>
          </p:cNvSpPr>
          <p:nvPr/>
        </p:nvSpPr>
        <p:spPr>
          <a:xfrm>
            <a:off x="430547" y="170323"/>
            <a:ext cx="10939781" cy="464000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rgbClr val="A4123F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IN" dirty="0"/>
              <a:t>Result Analysis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4C89EC-E137-A411-5B05-81C8677540FC}"/>
              </a:ext>
            </a:extLst>
          </p:cNvPr>
          <p:cNvSpPr txBox="1"/>
          <p:nvPr/>
        </p:nvSpPr>
        <p:spPr>
          <a:xfrm>
            <a:off x="1140904" y="6488668"/>
            <a:ext cx="8549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Intelligent Bug Detection and Code Clone Identification Using Hybrid Analysis Techniques</a:t>
            </a:r>
          </a:p>
        </p:txBody>
      </p:sp>
      <p:pic>
        <p:nvPicPr>
          <p:cNvPr id="9" name="Image 28">
            <a:extLst>
              <a:ext uri="{FF2B5EF4-FFF2-40B4-BE49-F238E27FC236}">
                <a16:creationId xmlns:a16="http://schemas.microsoft.com/office/drawing/2014/main" id="{E0BE3D35-21E2-16C4-9C27-3F790BC1809F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900437" y="889710"/>
            <a:ext cx="5360565" cy="50785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E584EB2-4590-788B-B320-EBEE4D4A5180}"/>
              </a:ext>
            </a:extLst>
          </p:cNvPr>
          <p:cNvSpPr txBox="1"/>
          <p:nvPr/>
        </p:nvSpPr>
        <p:spPr>
          <a:xfrm>
            <a:off x="571499" y="1410955"/>
            <a:ext cx="5072631" cy="4190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1">
              <a:spcBef>
                <a:spcPts val="0"/>
              </a:spcBef>
              <a:spcAft>
                <a:spcPts val="0"/>
              </a:spcAft>
              <a:buSzPts val="1700"/>
              <a:tabLst>
                <a:tab pos="739775" algn="l"/>
              </a:tabLst>
            </a:pPr>
            <a:r>
              <a:rPr lang="en-US" sz="1700" b="1" spc="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Bug</a:t>
            </a:r>
            <a:r>
              <a:rPr lang="en-US" sz="1700" b="1" spc="4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700" b="1" spc="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Detection</a:t>
            </a:r>
            <a:r>
              <a:rPr lang="en-US" sz="1700" b="1" spc="4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700" b="1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Report :</a:t>
            </a:r>
            <a:endParaRPr lang="en-IN" sz="1700" b="1" spc="0"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marL="179705" marR="628650" algn="just">
              <a:lnSpc>
                <a:spcPct val="105000"/>
              </a:lnSpc>
              <a:spcBef>
                <a:spcPts val="1295"/>
              </a:spcBef>
              <a:spcAft>
                <a:spcPts val="0"/>
              </a:spcAft>
            </a:pPr>
            <a:r>
              <a:rPr lang="en-US" sz="1400" spc="-1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The</a:t>
            </a:r>
            <a:r>
              <a:rPr lang="en-US" sz="1400" spc="-35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system</a:t>
            </a:r>
            <a:r>
              <a:rPr lang="en-US" sz="1400" spc="-3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generated</a:t>
            </a:r>
            <a:r>
              <a:rPr lang="en-US" sz="1400" spc="-3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comprehensive,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human-interpretable</a:t>
            </a:r>
            <a:r>
              <a:rPr lang="en-US" sz="1400" spc="-3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bug</a:t>
            </a:r>
            <a:r>
              <a:rPr lang="en-US" sz="1400" spc="-3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reports</a:t>
            </a:r>
            <a:r>
              <a:rPr lang="en-US" sz="1400" spc="-3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that</a:t>
            </a:r>
            <a:r>
              <a:rPr lang="en-US" sz="1400" spc="-3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categorize</a:t>
            </a:r>
            <a:r>
              <a:rPr lang="en-US" sz="1400" spc="-6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findings</a:t>
            </a:r>
            <a:r>
              <a:rPr lang="en-US" sz="1400" spc="-6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across</a:t>
            </a:r>
            <a:r>
              <a:rPr lang="en-US" sz="1400" spc="-6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critical,</a:t>
            </a:r>
            <a:r>
              <a:rPr lang="en-US" sz="1400" spc="-6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high,</a:t>
            </a:r>
            <a:r>
              <a:rPr lang="en-US" sz="1400" spc="-6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medium,</a:t>
            </a:r>
            <a:r>
              <a:rPr lang="en-US" sz="1400" spc="-6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and</a:t>
            </a:r>
            <a:r>
              <a:rPr lang="en-US" sz="1400" spc="-6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low</a:t>
            </a:r>
            <a:r>
              <a:rPr lang="en-US" sz="1400" spc="-6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severity</a:t>
            </a:r>
            <a:r>
              <a:rPr lang="en-US" sz="1400" spc="-6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levels.</a:t>
            </a:r>
            <a:r>
              <a:rPr lang="en-US" sz="1400" spc="-6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Each</a:t>
            </a:r>
            <a:r>
              <a:rPr lang="en-US" sz="1400" spc="-6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detected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issue</a:t>
            </a:r>
            <a:r>
              <a:rPr lang="en-US" sz="1400" spc="-6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is</a:t>
            </a:r>
            <a:r>
              <a:rPr lang="en-US" sz="1400" spc="-6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accompanied</a:t>
            </a:r>
            <a:r>
              <a:rPr lang="en-US" sz="1400" spc="-6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by</a:t>
            </a:r>
            <a:r>
              <a:rPr lang="en-US" sz="1400" spc="-6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contextual</a:t>
            </a:r>
            <a:r>
              <a:rPr lang="en-US" sz="1400" spc="-6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evidence,</a:t>
            </a:r>
            <a:r>
              <a:rPr lang="en-US" sz="1400" spc="-5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including</a:t>
            </a:r>
            <a:r>
              <a:rPr lang="en-US" sz="1400" spc="-6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file</a:t>
            </a:r>
            <a:r>
              <a:rPr lang="en-US" sz="1400" spc="-6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location,</a:t>
            </a:r>
            <a:r>
              <a:rPr lang="en-US" sz="1400" spc="-5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line</a:t>
            </a:r>
            <a:r>
              <a:rPr lang="en-US" sz="1400" spc="-6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number, triggering</a:t>
            </a:r>
            <a:r>
              <a:rPr lang="en-US" sz="1400" spc="-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code</a:t>
            </a:r>
            <a:r>
              <a:rPr lang="en-US" sz="1400" spc="-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patterns, and</a:t>
            </a:r>
            <a:r>
              <a:rPr lang="en-US" sz="1400" spc="-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the</a:t>
            </a:r>
            <a:r>
              <a:rPr lang="en-US" sz="1400" spc="-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specific</a:t>
            </a:r>
            <a:r>
              <a:rPr lang="en-US" sz="1400" spc="-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rule</a:t>
            </a:r>
            <a:r>
              <a:rPr lang="en-US" sz="1400" spc="-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or</a:t>
            </a:r>
            <a:r>
              <a:rPr lang="en-US" sz="1400" spc="-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anomaly</a:t>
            </a:r>
            <a:r>
              <a:rPr lang="en-US" sz="1400" spc="-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responsible</a:t>
            </a:r>
            <a:r>
              <a:rPr lang="en-US" sz="1400" spc="-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for</a:t>
            </a:r>
            <a:r>
              <a:rPr lang="en-US" sz="1400" spc="-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the</a:t>
            </a:r>
            <a:r>
              <a:rPr lang="en-US" sz="1400" spc="-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de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tection.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By</a:t>
            </a:r>
            <a:r>
              <a:rPr lang="en-US" sz="1400" spc="-6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combining</a:t>
            </a:r>
            <a:r>
              <a:rPr lang="en-US" sz="1400" spc="-6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static</a:t>
            </a:r>
            <a:r>
              <a:rPr lang="en-US" sz="1400" spc="-6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rule</a:t>
            </a:r>
            <a:r>
              <a:rPr lang="en-US" sz="1400" spc="-6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violations,</a:t>
            </a:r>
            <a:r>
              <a:rPr lang="en-US" sz="1400" spc="-6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logical-consistency</a:t>
            </a:r>
            <a:r>
              <a:rPr lang="en-US" sz="1400" spc="-6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checks,</a:t>
            </a:r>
            <a:r>
              <a:rPr lang="en-US" sz="1400" spc="-6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and</a:t>
            </a:r>
            <a:r>
              <a:rPr lang="en-US" sz="1400" spc="-6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signals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from dynamic anomaly analysis, the reports provide developers with actionable ex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planations rather than raw alerts.</a:t>
            </a:r>
            <a:r>
              <a:rPr lang="en-US" sz="1400" spc="2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This level of detail ensures that the output is suitable</a:t>
            </a:r>
            <a:r>
              <a:rPr lang="en-US" sz="1400" spc="-7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for</a:t>
            </a:r>
            <a:r>
              <a:rPr lang="en-US" sz="1400" spc="-7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real</a:t>
            </a:r>
            <a:r>
              <a:rPr lang="en-US" sz="1400" spc="-7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debugging</a:t>
            </a:r>
            <a:r>
              <a:rPr lang="en-US" sz="1400" spc="-7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workflows,</a:t>
            </a:r>
            <a:r>
              <a:rPr lang="en-US" sz="1400" spc="-6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automated</a:t>
            </a:r>
            <a:r>
              <a:rPr lang="en-US" sz="1400" spc="-7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documentation,</a:t>
            </a:r>
            <a:r>
              <a:rPr lang="en-US" sz="1400" spc="-6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and</a:t>
            </a:r>
            <a:r>
              <a:rPr lang="en-US" sz="1400" spc="-7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further</a:t>
            </a:r>
            <a:r>
              <a:rPr lang="en-US" sz="1400" spc="-7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re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finement</a:t>
            </a:r>
            <a:r>
              <a:rPr lang="en-US" sz="1400" spc="-4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in</a:t>
            </a:r>
            <a:r>
              <a:rPr lang="en-US" sz="1400" spc="-3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continuous</a:t>
            </a:r>
            <a:r>
              <a:rPr lang="en-US" sz="1400" spc="-3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integration</a:t>
            </a:r>
            <a:r>
              <a:rPr lang="en-US" sz="1400" spc="-4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environments.</a:t>
            </a:r>
            <a:endParaRPr lang="en-IN" sz="1400"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9759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A0663-8695-8CFA-B1EF-3BA1E542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98858"/>
            <a:ext cx="571499" cy="292081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F1E17E0E-46A7-9BC1-30A2-460BE7752111}"/>
              </a:ext>
            </a:extLst>
          </p:cNvPr>
          <p:cNvSpPr txBox="1">
            <a:spLocks/>
          </p:cNvSpPr>
          <p:nvPr/>
        </p:nvSpPr>
        <p:spPr>
          <a:xfrm>
            <a:off x="430547" y="170323"/>
            <a:ext cx="10939781" cy="464000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rgbClr val="A4123F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IN" dirty="0"/>
              <a:t>Result Analysis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4C89EC-E137-A411-5B05-81C8677540FC}"/>
              </a:ext>
            </a:extLst>
          </p:cNvPr>
          <p:cNvSpPr txBox="1"/>
          <p:nvPr/>
        </p:nvSpPr>
        <p:spPr>
          <a:xfrm>
            <a:off x="1140904" y="6488668"/>
            <a:ext cx="8549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Intelligent Bug Detection and Code Clone Identification Using Hybrid Analysis Techniques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7980D32-8B18-0FAC-E160-9DFFB0E5E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9" name="Image 26">
            <a:extLst>
              <a:ext uri="{FF2B5EF4-FFF2-40B4-BE49-F238E27FC236}">
                <a16:creationId xmlns:a16="http://schemas.microsoft.com/office/drawing/2014/main" id="{B46DA84A-13BE-0B71-3F52-84197BB10199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397543" y="2148149"/>
            <a:ext cx="4303552" cy="389718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1C3F3BE-F392-6A1D-33DB-45B493AAA2C1}"/>
              </a:ext>
            </a:extLst>
          </p:cNvPr>
          <p:cNvSpPr txBox="1"/>
          <p:nvPr/>
        </p:nvSpPr>
        <p:spPr>
          <a:xfrm>
            <a:off x="411124" y="962440"/>
            <a:ext cx="10959203" cy="118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160"/>
              </a:spcBef>
              <a:spcAft>
                <a:spcPts val="0"/>
              </a:spcAft>
            </a:pPr>
            <a:r>
              <a:rPr lang="en-US" sz="12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           </a:t>
            </a:r>
            <a:r>
              <a:rPr lang="en-US" sz="1700" b="1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Visual</a:t>
            </a:r>
            <a:r>
              <a:rPr lang="en-US" sz="1700" b="1" spc="3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700" b="1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Diagram</a:t>
            </a:r>
            <a:r>
              <a:rPr lang="en-US" sz="1700" b="1" spc="4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700" b="1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Output :</a:t>
            </a:r>
            <a:endParaRPr lang="en-IN" sz="1700" b="1" spc="0" dirty="0"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marL="179705" marR="628015" algn="just">
              <a:lnSpc>
                <a:spcPct val="105000"/>
              </a:lnSpc>
              <a:spcBef>
                <a:spcPts val="1300"/>
              </a:spcBef>
              <a:spcAft>
                <a:spcPts val="0"/>
              </a:spcAft>
            </a:pP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The system generated visualization outputs that include snippet-level similarities, pipeline</a:t>
            </a:r>
            <a:r>
              <a:rPr lang="en-US" sz="1400" spc="-6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execution</a:t>
            </a:r>
            <a:r>
              <a:rPr lang="en-US" sz="1400" spc="-6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logs,</a:t>
            </a:r>
            <a:r>
              <a:rPr lang="en-US" sz="1400" spc="-6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and</a:t>
            </a:r>
            <a:r>
              <a:rPr lang="en-US" sz="1400" spc="-6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summary</a:t>
            </a:r>
            <a:r>
              <a:rPr lang="en-US" sz="1400" spc="-6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breakdowns.</a:t>
            </a:r>
            <a:r>
              <a:rPr lang="en-US" sz="1400" spc="-4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These</a:t>
            </a:r>
            <a:r>
              <a:rPr lang="en-US" sz="1400" spc="-6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visuals</a:t>
            </a:r>
            <a:r>
              <a:rPr lang="en-US" sz="1400" spc="-6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assist</a:t>
            </a:r>
            <a:r>
              <a:rPr lang="en-US" sz="1400" spc="-6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developers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in</a:t>
            </a:r>
            <a:r>
              <a:rPr lang="en-US" sz="1400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understanding</a:t>
            </a:r>
            <a:r>
              <a:rPr lang="en-US" sz="1400" spc="-3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the</a:t>
            </a:r>
            <a:r>
              <a:rPr lang="en-US" sz="1400" spc="-3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high-level</a:t>
            </a:r>
            <a:r>
              <a:rPr lang="en-US" sz="1400" spc="-3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behavior</a:t>
            </a:r>
            <a:r>
              <a:rPr lang="en-US" sz="1400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of</a:t>
            </a:r>
            <a:r>
              <a:rPr lang="en-US" sz="1400" spc="-3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the</a:t>
            </a:r>
            <a:r>
              <a:rPr lang="en-US" sz="1400" spc="-3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analysis</a:t>
            </a:r>
            <a:r>
              <a:rPr lang="en-US" sz="1400" spc="-3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pipeline,</a:t>
            </a:r>
            <a:r>
              <a:rPr lang="en-US" sz="1400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the</a:t>
            </a:r>
            <a:r>
              <a:rPr lang="en-US" sz="1400" spc="-3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distribution</a:t>
            </a:r>
            <a:r>
              <a:rPr lang="en-US" sz="1400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of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clone pairs, and anomaly patterns.</a:t>
            </a:r>
            <a:endParaRPr lang="en-IN" sz="1400" dirty="0"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518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A0663-8695-8CFA-B1EF-3BA1E542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98858"/>
            <a:ext cx="571499" cy="292081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920F393B-B59D-CE0C-AB64-DAF0243AFBD4}"/>
              </a:ext>
            </a:extLst>
          </p:cNvPr>
          <p:cNvSpPr txBox="1">
            <a:spLocks/>
          </p:cNvSpPr>
          <p:nvPr/>
        </p:nvSpPr>
        <p:spPr>
          <a:xfrm>
            <a:off x="430547" y="170323"/>
            <a:ext cx="10939781" cy="464000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rgbClr val="A4123F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IN" dirty="0"/>
              <a:t>Result Analysis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AB19D-A435-7E39-7B1D-8F4D3A874DB1}"/>
              </a:ext>
            </a:extLst>
          </p:cNvPr>
          <p:cNvSpPr txBox="1"/>
          <p:nvPr/>
        </p:nvSpPr>
        <p:spPr>
          <a:xfrm>
            <a:off x="1140904" y="6488668"/>
            <a:ext cx="8549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Intelligent Bug Detection and Code Clone Identification Using Hybrid Analysis Techniques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1B246A-D07F-36A5-07D0-9C1B845527B5}"/>
              </a:ext>
            </a:extLst>
          </p:cNvPr>
          <p:cNvSpPr txBox="1"/>
          <p:nvPr/>
        </p:nvSpPr>
        <p:spPr>
          <a:xfrm>
            <a:off x="125835" y="2516697"/>
            <a:ext cx="5872293" cy="36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1">
              <a:spcBef>
                <a:spcPts val="170"/>
              </a:spcBef>
              <a:spcAft>
                <a:spcPts val="0"/>
              </a:spcAft>
              <a:buSzPts val="1700"/>
              <a:tabLst>
                <a:tab pos="739775" algn="l"/>
              </a:tabLst>
            </a:pPr>
            <a:r>
              <a:rPr lang="en-US" sz="1800" b="1" spc="-20" dirty="0">
                <a:solidFill>
                  <a:schemeClr val="bg1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Dynamic</a:t>
            </a:r>
            <a:r>
              <a:rPr lang="en-US" sz="1800" b="1" spc="20" dirty="0">
                <a:solidFill>
                  <a:schemeClr val="bg1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800" b="1" spc="-20" dirty="0">
                <a:solidFill>
                  <a:schemeClr val="bg1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Execution</a:t>
            </a:r>
            <a:r>
              <a:rPr lang="en-US" sz="1800" b="1" spc="25" dirty="0">
                <a:solidFill>
                  <a:schemeClr val="bg1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800" b="1" spc="-20" dirty="0">
                <a:solidFill>
                  <a:schemeClr val="bg1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Trace</a:t>
            </a:r>
            <a:r>
              <a:rPr lang="en-US" sz="1800" b="1" spc="20" dirty="0">
                <a:solidFill>
                  <a:schemeClr val="bg1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800" b="1" spc="-20" dirty="0">
                <a:solidFill>
                  <a:schemeClr val="bg1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Output :</a:t>
            </a:r>
          </a:p>
          <a:p>
            <a:pPr marR="0" lvl="1">
              <a:spcBef>
                <a:spcPts val="170"/>
              </a:spcBef>
              <a:spcAft>
                <a:spcPts val="0"/>
              </a:spcAft>
              <a:buSzPts val="1700"/>
              <a:tabLst>
                <a:tab pos="739775" algn="l"/>
              </a:tabLst>
            </a:pPr>
            <a:endParaRPr lang="en-US" b="1" spc="-20" dirty="0">
              <a:solidFill>
                <a:schemeClr val="bg1"/>
              </a:solidFill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marR="0" lvl="1">
              <a:spcBef>
                <a:spcPts val="170"/>
              </a:spcBef>
              <a:spcAft>
                <a:spcPts val="0"/>
              </a:spcAft>
              <a:buSzPts val="1700"/>
              <a:tabLst>
                <a:tab pos="739775" algn="l"/>
              </a:tabLst>
            </a:pPr>
            <a:endParaRPr lang="en-US" sz="1800" b="1" spc="-20" dirty="0">
              <a:solidFill>
                <a:schemeClr val="bg1"/>
              </a:solidFill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marR="0" lvl="1">
              <a:spcBef>
                <a:spcPts val="170"/>
              </a:spcBef>
              <a:spcAft>
                <a:spcPts val="0"/>
              </a:spcAft>
              <a:buSzPts val="1700"/>
              <a:tabLst>
                <a:tab pos="739775" algn="l"/>
              </a:tabLst>
            </a:pPr>
            <a:endParaRPr lang="en-US" b="1" spc="-20" dirty="0">
              <a:solidFill>
                <a:schemeClr val="bg1"/>
              </a:solidFill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marR="0" lvl="1">
              <a:spcBef>
                <a:spcPts val="170"/>
              </a:spcBef>
              <a:spcAft>
                <a:spcPts val="0"/>
              </a:spcAft>
              <a:buSzPts val="1700"/>
              <a:tabLst>
                <a:tab pos="739775" algn="l"/>
              </a:tabLst>
            </a:pPr>
            <a:endParaRPr lang="en-US" sz="1800" b="1" spc="-20" dirty="0">
              <a:solidFill>
                <a:schemeClr val="bg1"/>
              </a:solidFill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marR="0" lvl="1">
              <a:spcBef>
                <a:spcPts val="170"/>
              </a:spcBef>
              <a:spcAft>
                <a:spcPts val="0"/>
              </a:spcAft>
              <a:buSzPts val="1700"/>
              <a:tabLst>
                <a:tab pos="739775" algn="l"/>
              </a:tabLst>
            </a:pPr>
            <a:endParaRPr lang="en-US" b="1" spc="-20" dirty="0">
              <a:solidFill>
                <a:schemeClr val="bg1"/>
              </a:solidFill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marR="0" lvl="1">
              <a:spcBef>
                <a:spcPts val="170"/>
              </a:spcBef>
              <a:spcAft>
                <a:spcPts val="0"/>
              </a:spcAft>
              <a:buSzPts val="1700"/>
              <a:tabLst>
                <a:tab pos="739775" algn="l"/>
              </a:tabLst>
            </a:pPr>
            <a:endParaRPr lang="en-US" b="1" spc="-20" dirty="0">
              <a:solidFill>
                <a:schemeClr val="bg1"/>
              </a:solidFill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marR="0" lvl="1">
              <a:spcBef>
                <a:spcPts val="170"/>
              </a:spcBef>
              <a:spcAft>
                <a:spcPts val="0"/>
              </a:spcAft>
              <a:buSzPts val="1700"/>
              <a:tabLst>
                <a:tab pos="739775" algn="l"/>
              </a:tabLst>
            </a:pPr>
            <a:endParaRPr lang="en-US" sz="1800" b="1" spc="-20" dirty="0">
              <a:solidFill>
                <a:schemeClr val="bg1"/>
              </a:solidFill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marR="0" lvl="1">
              <a:spcBef>
                <a:spcPts val="170"/>
              </a:spcBef>
              <a:spcAft>
                <a:spcPts val="0"/>
              </a:spcAft>
              <a:buSzPts val="1700"/>
              <a:tabLst>
                <a:tab pos="739775" algn="l"/>
              </a:tabLst>
            </a:pPr>
            <a:endParaRPr lang="en-US" b="1" spc="-20" dirty="0">
              <a:solidFill>
                <a:schemeClr val="bg1"/>
              </a:solidFill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marR="0" lvl="1">
              <a:spcBef>
                <a:spcPts val="170"/>
              </a:spcBef>
              <a:spcAft>
                <a:spcPts val="0"/>
              </a:spcAft>
              <a:buSzPts val="1700"/>
              <a:tabLst>
                <a:tab pos="739775" algn="l"/>
              </a:tabLst>
            </a:pPr>
            <a:endParaRPr lang="en-US" sz="1800" b="1" spc="-20" dirty="0">
              <a:solidFill>
                <a:schemeClr val="bg1"/>
              </a:solidFill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marR="0" lvl="1">
              <a:spcBef>
                <a:spcPts val="170"/>
              </a:spcBef>
              <a:spcAft>
                <a:spcPts val="0"/>
              </a:spcAft>
              <a:buSzPts val="1700"/>
              <a:tabLst>
                <a:tab pos="739775" algn="l"/>
              </a:tabLst>
            </a:pPr>
            <a:endParaRPr lang="en-US" b="1" spc="-20" dirty="0">
              <a:solidFill>
                <a:schemeClr val="bg1"/>
              </a:solidFill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marR="0" lvl="1">
              <a:spcBef>
                <a:spcPts val="170"/>
              </a:spcBef>
              <a:spcAft>
                <a:spcPts val="0"/>
              </a:spcAft>
              <a:buSzPts val="1700"/>
              <a:tabLst>
                <a:tab pos="739775" algn="l"/>
              </a:tabLst>
            </a:pPr>
            <a:endParaRPr lang="en-IN" sz="1800" b="1" spc="0" dirty="0">
              <a:solidFill>
                <a:schemeClr val="bg1"/>
              </a:solidFill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26A5F9-8E9E-A7A9-BAE1-054CFD513E3A}"/>
              </a:ext>
            </a:extLst>
          </p:cNvPr>
          <p:cNvSpPr txBox="1"/>
          <p:nvPr/>
        </p:nvSpPr>
        <p:spPr>
          <a:xfrm>
            <a:off x="125835" y="2207267"/>
            <a:ext cx="5970165" cy="2453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631825" lvl="1">
              <a:lnSpc>
                <a:spcPct val="112000"/>
              </a:lnSpc>
              <a:spcBef>
                <a:spcPts val="5"/>
              </a:spcBef>
              <a:spcAft>
                <a:spcPts val="0"/>
              </a:spcAft>
              <a:buSzPts val="1700"/>
              <a:tabLst>
                <a:tab pos="740410" algn="l"/>
              </a:tabLst>
            </a:pPr>
            <a:r>
              <a:rPr lang="en-US" sz="1700" b="1" spc="-5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Fused</a:t>
            </a:r>
            <a:r>
              <a:rPr lang="en-US" sz="1700" b="1" spc="-6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700" b="1" spc="-5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Static–Semantic–Dynamic</a:t>
            </a:r>
            <a:r>
              <a:rPr lang="en-US" sz="1700" b="1" spc="-60" dirty="0"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700" b="1" spc="-5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Representa</a:t>
            </a:r>
            <a:r>
              <a:rPr lang="en-US" sz="1700" b="1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tion :</a:t>
            </a:r>
            <a:endParaRPr lang="en-IN" sz="1700" b="1" spc="0" dirty="0"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marL="179705" marR="628650" algn="just">
              <a:lnSpc>
                <a:spcPct val="105000"/>
              </a:lnSpc>
              <a:spcBef>
                <a:spcPts val="1055"/>
              </a:spcBef>
              <a:spcAft>
                <a:spcPts val="0"/>
              </a:spcAft>
            </a:pP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The</a:t>
            </a:r>
            <a:r>
              <a:rPr lang="en-US" sz="1400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core</a:t>
            </a:r>
            <a:r>
              <a:rPr lang="en-US" sz="1400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innovation</a:t>
            </a:r>
            <a:r>
              <a:rPr lang="en-US" sz="1400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of</a:t>
            </a:r>
            <a:r>
              <a:rPr lang="en-US" sz="1400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the</a:t>
            </a:r>
            <a:r>
              <a:rPr lang="en-US" sz="1400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system</a:t>
            </a:r>
            <a:r>
              <a:rPr lang="en-US" sz="1400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is</a:t>
            </a:r>
            <a:r>
              <a:rPr lang="en-US" sz="1400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its</a:t>
            </a:r>
            <a:r>
              <a:rPr lang="en-US" sz="1400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fusion</a:t>
            </a:r>
            <a:r>
              <a:rPr lang="en-US" sz="1400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engine,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which</a:t>
            </a:r>
            <a:r>
              <a:rPr lang="en-US" sz="1400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combines</a:t>
            </a:r>
            <a:r>
              <a:rPr lang="en-US" sz="1400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structural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similarity,</a:t>
            </a:r>
            <a:r>
              <a:rPr lang="en-US" sz="1400" spc="-3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embedding</a:t>
            </a:r>
            <a:r>
              <a:rPr lang="en-US" sz="1400" spc="-3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similarity,</a:t>
            </a:r>
            <a:r>
              <a:rPr lang="en-US" sz="1400" spc="-3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and</a:t>
            </a:r>
            <a:r>
              <a:rPr lang="en-US" sz="1400" spc="-3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dynamic</a:t>
            </a:r>
            <a:r>
              <a:rPr lang="en-US" sz="1400" spc="-3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anomaly</a:t>
            </a:r>
            <a:r>
              <a:rPr lang="en-US" sz="1400" spc="-3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signals.</a:t>
            </a:r>
            <a:r>
              <a:rPr lang="en-US" sz="1400" spc="4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This</a:t>
            </a:r>
            <a:r>
              <a:rPr lang="en-US" sz="1400" spc="-3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fusion</a:t>
            </a:r>
            <a:r>
              <a:rPr lang="en-US" sz="1400" spc="-3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2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process </a:t>
            </a:r>
            <a:r>
              <a:rPr lang="en-US" sz="1400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produced 283 ranked clone and bug-likelihood reports.</a:t>
            </a:r>
            <a:r>
              <a:rPr lang="en-US" sz="1400" spc="9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The highest-confidence can- </a:t>
            </a:r>
            <a:r>
              <a:rPr lang="en-US" sz="1400" spc="-30" dirty="0" err="1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didates</a:t>
            </a:r>
            <a:r>
              <a:rPr lang="en-US" sz="1400" spc="-1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had</a:t>
            </a:r>
            <a:r>
              <a:rPr lang="en-US" sz="1400" spc="-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fusion</a:t>
            </a:r>
            <a:r>
              <a:rPr lang="en-US" sz="1400" spc="-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scores</a:t>
            </a:r>
            <a:r>
              <a:rPr lang="en-US" sz="1400" spc="-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above</a:t>
            </a:r>
            <a:r>
              <a:rPr lang="en-US" sz="1400" spc="-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0.80,</a:t>
            </a:r>
            <a:r>
              <a:rPr lang="en-US" sz="1400" spc="-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demonstrating</a:t>
            </a:r>
            <a:r>
              <a:rPr lang="en-US" sz="1400" spc="-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strong</a:t>
            </a:r>
            <a:r>
              <a:rPr lang="en-US" sz="1400" spc="-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multi-modal</a:t>
            </a:r>
            <a:r>
              <a:rPr lang="en-US" sz="1400" spc="-5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sz="1400" spc="-30" dirty="0"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rPr>
              <a:t>alignment.</a:t>
            </a:r>
            <a:endParaRPr lang="en-IN" sz="1400" dirty="0"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endParaRPr lang="en-IN" b="1" dirty="0"/>
          </a:p>
        </p:txBody>
      </p:sp>
      <p:pic>
        <p:nvPicPr>
          <p:cNvPr id="12" name="Image 25">
            <a:extLst>
              <a:ext uri="{FF2B5EF4-FFF2-40B4-BE49-F238E27FC236}">
                <a16:creationId xmlns:a16="http://schemas.microsoft.com/office/drawing/2014/main" id="{F7FA8B49-B451-568A-B566-BDC0FA26C577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96000" y="1097225"/>
            <a:ext cx="4521666" cy="492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736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FB7946-4A61-F0D4-E3EF-98A282757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Automated Bug Repair :</a:t>
            </a:r>
            <a:b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System will autosuggest fixes for detected logical bugs using program synthesis and pattern-based corrections.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IDE Integration (VS Code Plugin) :</a:t>
            </a:r>
            <a:b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Realtime bug detection, clone alerts, and suggestion popups directly inside the developer’s coding environment.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Advanced Graph Analysis :</a:t>
            </a:r>
            <a:b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Use Code Property Graphs and Graph Neural Networks for deeper semantic understanding and more accurate bug/clone prediction.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Interactive Web Dashboard :</a:t>
            </a:r>
            <a:b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Visualize bug hotspots, clone clusters, execution traces, and ProjectWise code health metrics with intuitive analytics.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A0663-8695-8CFA-B1EF-3BA1E542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2DCF628-6315-0B80-F7D0-7E081A735C67}"/>
              </a:ext>
            </a:extLst>
          </p:cNvPr>
          <p:cNvSpPr txBox="1">
            <a:spLocks/>
          </p:cNvSpPr>
          <p:nvPr/>
        </p:nvSpPr>
        <p:spPr>
          <a:xfrm>
            <a:off x="430547" y="170323"/>
            <a:ext cx="10939781" cy="464000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rgbClr val="A4123F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IN" dirty="0"/>
              <a:t>Phase II plan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F5A1DE-CEFE-67B5-7340-B8A1B797E512}"/>
              </a:ext>
            </a:extLst>
          </p:cNvPr>
          <p:cNvSpPr txBox="1"/>
          <p:nvPr/>
        </p:nvSpPr>
        <p:spPr>
          <a:xfrm>
            <a:off x="1140904" y="6488668"/>
            <a:ext cx="8549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Intelligent Bug Detection and Code Clone Identification Using Hybrid Analysis Techniques</a:t>
            </a:r>
          </a:p>
        </p:txBody>
      </p:sp>
    </p:spTree>
    <p:extLst>
      <p:ext uri="{BB962C8B-B14F-4D97-AF65-F5344CB8AC3E}">
        <p14:creationId xmlns:p14="http://schemas.microsoft.com/office/powerpoint/2010/main" val="30202694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A0663-8695-8CFA-B1EF-3BA1E542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20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B640909-6C4B-4761-BDE3-642EE4030C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3200" y="749499"/>
            <a:ext cx="11470639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1] T.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Vijayanandan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K.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Banujan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A.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Induranga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B. T. G. S. Kumara, and K.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Koswattage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“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LeONet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A Hybrid Deep Learning Approach for High-Precision Code Clone Detection Using Abstract Syntax Tree Features,” </a:t>
            </a:r>
            <a:r>
              <a:rPr kumimoji="0" lang="en-US" altLang="en-US" sz="2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Big Data and Cognitive Computing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2025.</a:t>
            </a:r>
            <a:b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[2] M.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Vijayvergiya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M.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Salawa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I.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Budiselić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D. Zheng, P.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Lamblin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M.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Ivanković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J. Carin, M.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Lewko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J.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Andonov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G.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Petrović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D.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Tarlow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P.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Maniatis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and R. Just, “AI-Assisted Assessment of Coding Practices in Modern Code Review,” </a:t>
            </a:r>
            <a:r>
              <a:rPr kumimoji="0" lang="en-US" altLang="en-US" sz="2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AI-Powered Software Engineering (</a:t>
            </a:r>
            <a:r>
              <a:rPr kumimoji="0" lang="en-US" altLang="en-US" sz="21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AIware</a:t>
            </a:r>
            <a:r>
              <a:rPr kumimoji="0" lang="en-US" altLang="en-US" sz="2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2024.</a:t>
            </a:r>
            <a:b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[3] H. Wang, Z. Tang, S. H. Tan, J. Wang, Y. Liu, H. Fang, C. Xia, and Z. Wang, “Combining Structured Static Code Information and Dynamic Symbolic Traces for Software Vulnerability Prediction,” </a:t>
            </a:r>
            <a:r>
              <a:rPr kumimoji="0" lang="en-US" altLang="en-US" sz="2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ICSE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2024.</a:t>
            </a:r>
            <a:b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[4] A. A.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Almatrafi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F. A.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Eassa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and S. A. Sharaf, “Code Clone Detection Techniques Based on Large Language Models,” </a:t>
            </a:r>
            <a:r>
              <a:rPr kumimoji="0" lang="en-US" altLang="en-US" sz="2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IEEE Access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2025.</a:t>
            </a:r>
            <a:b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[5] L. Jiang, Z.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and E. Chiu, “Context-Based Detection of Clone-Related Bugs,” </a:t>
            </a:r>
            <a:r>
              <a:rPr kumimoji="0" lang="en-US" altLang="en-US" sz="2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ESEC/FSE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2007.</a:t>
            </a:r>
            <a:b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5CCC489F-DD1A-9BAE-7C4B-4A0056407070}"/>
              </a:ext>
            </a:extLst>
          </p:cNvPr>
          <p:cNvSpPr txBox="1">
            <a:spLocks/>
          </p:cNvSpPr>
          <p:nvPr/>
        </p:nvSpPr>
        <p:spPr>
          <a:xfrm>
            <a:off x="430547" y="170323"/>
            <a:ext cx="10939781" cy="464000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rgbClr val="A4123F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IN" dirty="0"/>
              <a:t>References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EA4621-CC5B-74DB-A4AA-A69CB2BD467E}"/>
              </a:ext>
            </a:extLst>
          </p:cNvPr>
          <p:cNvSpPr txBox="1"/>
          <p:nvPr/>
        </p:nvSpPr>
        <p:spPr>
          <a:xfrm>
            <a:off x="1140904" y="6488668"/>
            <a:ext cx="8549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Intelligent Bug Detection and Code Clone Identification Using Hybrid Analysis Techniques</a:t>
            </a:r>
          </a:p>
        </p:txBody>
      </p:sp>
    </p:spTree>
    <p:extLst>
      <p:ext uri="{BB962C8B-B14F-4D97-AF65-F5344CB8AC3E}">
        <p14:creationId xmlns:p14="http://schemas.microsoft.com/office/powerpoint/2010/main" val="18096092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81F1C05F-2436-40E3-C05A-D116EDBF92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499" y="1164621"/>
            <a:ext cx="11209376" cy="485335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DDAE5-8596-8516-B3BD-E80495CF6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21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0B607651-7731-72E6-93DB-4E83E51EBD7E}"/>
              </a:ext>
            </a:extLst>
          </p:cNvPr>
          <p:cNvSpPr txBox="1">
            <a:spLocks/>
          </p:cNvSpPr>
          <p:nvPr/>
        </p:nvSpPr>
        <p:spPr>
          <a:xfrm>
            <a:off x="430547" y="170323"/>
            <a:ext cx="10939781" cy="464000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rgbClr val="A4123F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Approval from the project guide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1341F7-944A-C8A6-0E9E-E218487B83D2}"/>
              </a:ext>
            </a:extLst>
          </p:cNvPr>
          <p:cNvSpPr txBox="1"/>
          <p:nvPr/>
        </p:nvSpPr>
        <p:spPr>
          <a:xfrm>
            <a:off x="1140904" y="6488668"/>
            <a:ext cx="8549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Intelligent Bug Detection and Code Clone Identification Using Hybrid Analysis Techniques</a:t>
            </a:r>
          </a:p>
        </p:txBody>
      </p:sp>
    </p:spTree>
    <p:extLst>
      <p:ext uri="{BB962C8B-B14F-4D97-AF65-F5344CB8AC3E}">
        <p14:creationId xmlns:p14="http://schemas.microsoft.com/office/powerpoint/2010/main" val="3216769525"/>
      </p:ext>
    </p:extLst>
  </p:cSld>
  <p:clrMapOvr>
    <a:masterClrMapping/>
  </p:clrMapOvr>
</p:sld>
</file>

<file path=ppt/theme/theme1.xml><?xml version="1.0" encoding="utf-8"?>
<a:theme xmlns:a="http://schemas.openxmlformats.org/drawingml/2006/main" name="AlignmentVTI">
  <a:themeElements>
    <a:clrScheme name="AnalogousFromLightSeed_2SEEDS">
      <a:dk1>
        <a:srgbClr val="000000"/>
      </a:dk1>
      <a:lt1>
        <a:srgbClr val="FFFFFF"/>
      </a:lt1>
      <a:dk2>
        <a:srgbClr val="243741"/>
      </a:dk2>
      <a:lt2>
        <a:srgbClr val="E2E5E8"/>
      </a:lt2>
      <a:accent1>
        <a:srgbClr val="BB9D7E"/>
      </a:accent1>
      <a:accent2>
        <a:srgbClr val="C59791"/>
      </a:accent2>
      <a:accent3>
        <a:srgbClr val="A5A27B"/>
      </a:accent3>
      <a:accent4>
        <a:srgbClr val="74ADA7"/>
      </a:accent4>
      <a:accent5>
        <a:srgbClr val="7EA7BB"/>
      </a:accent5>
      <a:accent6>
        <a:srgbClr val="7E8DBB"/>
      </a:accent6>
      <a:hlink>
        <a:srgbClr val="6184A9"/>
      </a:hlink>
      <a:folHlink>
        <a:srgbClr val="7F7F7F"/>
      </a:folHlink>
    </a:clrScheme>
    <a:fontScheme name="Custom 1">
      <a:majorFont>
        <a:latin typeface="Batang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lignmentVTI" id="{606D7720-FAA0-4ADC-B967-3239DA8ECA1A}" vid="{10074623-6FCC-4A3C-AAA5-58644BD8FF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</TotalTime>
  <Words>2407</Words>
  <Application>Microsoft Office PowerPoint</Application>
  <PresentationFormat>Widescreen</PresentationFormat>
  <Paragraphs>325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Batang</vt:lpstr>
      <vt:lpstr>Aptos</vt:lpstr>
      <vt:lpstr>Aptos Display</vt:lpstr>
      <vt:lpstr>Arial</vt:lpstr>
      <vt:lpstr>Avenir Next LT Pro Light</vt:lpstr>
      <vt:lpstr>Calibri</vt:lpstr>
      <vt:lpstr>Georgia</vt:lpstr>
      <vt:lpstr>Google Sans</vt:lpstr>
      <vt:lpstr>Times New Roman</vt:lpstr>
      <vt:lpstr>Wingdings</vt:lpstr>
      <vt:lpstr>AlignmentVTI</vt:lpstr>
      <vt:lpstr>office theme</vt:lpstr>
      <vt:lpstr>PowerPoint Presentation</vt:lpstr>
      <vt:lpstr>Outline</vt:lpstr>
      <vt:lpstr>PowerPoint Presentation</vt:lpstr>
      <vt:lpstr>Problem Definition</vt:lpstr>
      <vt:lpstr>Problem Definition (Continues…)</vt:lpstr>
      <vt:lpstr>Literature Review Summary</vt:lpstr>
      <vt:lpstr>Literature Review Summary</vt:lpstr>
      <vt:lpstr>Literature Review Summary</vt:lpstr>
      <vt:lpstr>Literature Review Summary</vt:lpstr>
      <vt:lpstr>Literature Review Summary</vt:lpstr>
      <vt:lpstr>Literature Review Summary</vt:lpstr>
      <vt:lpstr>Design/Architecture</vt:lpstr>
      <vt:lpstr>Algorithms</vt:lpstr>
      <vt:lpstr>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Harshith Y</dc:creator>
  <cp:lastModifiedBy>jaswanth ch</cp:lastModifiedBy>
  <cp:revision>135</cp:revision>
  <dcterms:created xsi:type="dcterms:W3CDTF">2025-11-28T07:20:52Z</dcterms:created>
  <dcterms:modified xsi:type="dcterms:W3CDTF">2026-01-30T13:44:04Z</dcterms:modified>
</cp:coreProperties>
</file>